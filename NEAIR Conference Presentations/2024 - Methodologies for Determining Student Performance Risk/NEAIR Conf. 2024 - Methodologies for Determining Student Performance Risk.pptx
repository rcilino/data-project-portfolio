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sldIdLst>
    <p:sldId id="256" r:id="rId2"/>
    <p:sldId id="270" r:id="rId3"/>
    <p:sldId id="257" r:id="rId4"/>
    <p:sldId id="269" r:id="rId5"/>
    <p:sldId id="271" r:id="rId6"/>
    <p:sldId id="258" r:id="rId7"/>
    <p:sldId id="272" r:id="rId8"/>
    <p:sldId id="259" r:id="rId9"/>
    <p:sldId id="260" r:id="rId10"/>
    <p:sldId id="273" r:id="rId11"/>
    <p:sldId id="261" r:id="rId12"/>
    <p:sldId id="263" r:id="rId13"/>
    <p:sldId id="265" r:id="rId14"/>
    <p:sldId id="262" r:id="rId15"/>
    <p:sldId id="264" r:id="rId16"/>
    <p:sldId id="275" r:id="rId17"/>
    <p:sldId id="266" r:id="rId18"/>
    <p:sldId id="267" r:id="rId19"/>
    <p:sldId id="268" r:id="rId20"/>
    <p:sldId id="274"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3B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3" autoAdjust="0"/>
    <p:restoredTop sz="94660"/>
  </p:normalViewPr>
  <p:slideViewPr>
    <p:cSldViewPr snapToGrid="0">
      <p:cViewPr varScale="1">
        <p:scale>
          <a:sx n="156" d="100"/>
          <a:sy n="156" d="100"/>
        </p:scale>
        <p:origin x="2634"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FA0AA5-0151-44EA-81B9-64CB3C3385A9}" type="datetimeFigureOut">
              <a:rPr lang="en-US" smtClean="0"/>
              <a:t>11/16/2024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7F1B1C-BD68-4694-A9D4-489EA352AA28}" type="slidenum">
              <a:rPr lang="en-US" smtClean="0"/>
              <a:t>‹#›</a:t>
            </a:fld>
            <a:endParaRPr lang="en-US"/>
          </a:p>
        </p:txBody>
      </p:sp>
    </p:spTree>
    <p:extLst>
      <p:ext uri="{BB962C8B-B14F-4D97-AF65-F5344CB8AC3E}">
        <p14:creationId xmlns:p14="http://schemas.microsoft.com/office/powerpoint/2010/main" val="3940179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11E54-B6CB-B28F-C3F3-334AC5DD98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BFE6F6-CEA6-36B8-FAC8-4BAC4AF388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268EBA-261E-9C68-8F2E-1AA30150178A}"/>
              </a:ext>
            </a:extLst>
          </p:cNvPr>
          <p:cNvSpPr>
            <a:spLocks noGrp="1"/>
          </p:cNvSpPr>
          <p:nvPr>
            <p:ph type="dt" sz="half" idx="10"/>
          </p:nvPr>
        </p:nvSpPr>
        <p:spPr/>
        <p:txBody>
          <a:bodyPr/>
          <a:lstStyle/>
          <a:p>
            <a:fld id="{D7521B96-FAB6-497C-B8C7-512999124D2E}" type="datetime1">
              <a:rPr lang="en-US" smtClean="0"/>
              <a:t>11/16/2024</a:t>
            </a:fld>
            <a:endParaRPr lang="en-US"/>
          </a:p>
        </p:txBody>
      </p:sp>
      <p:sp>
        <p:nvSpPr>
          <p:cNvPr id="5" name="Footer Placeholder 4">
            <a:extLst>
              <a:ext uri="{FF2B5EF4-FFF2-40B4-BE49-F238E27FC236}">
                <a16:creationId xmlns:a16="http://schemas.microsoft.com/office/drawing/2014/main" id="{87898A3B-11F4-C45B-3DC9-0708A9383F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EBA755-06D1-D9A4-3167-87F7BD0E768C}"/>
              </a:ext>
            </a:extLst>
          </p:cNvPr>
          <p:cNvSpPr>
            <a:spLocks noGrp="1"/>
          </p:cNvSpPr>
          <p:nvPr>
            <p:ph type="sldNum" sz="quarter" idx="12"/>
          </p:nvPr>
        </p:nvSpPr>
        <p:spPr/>
        <p:txBody>
          <a:bodyPr/>
          <a:lstStyle/>
          <a:p>
            <a:fld id="{EA816D0E-01D5-4C40-903D-C1C8B29B6D50}" type="slidenum">
              <a:rPr lang="en-US" smtClean="0"/>
              <a:t>‹#›</a:t>
            </a:fld>
            <a:endParaRPr lang="en-US"/>
          </a:p>
        </p:txBody>
      </p:sp>
    </p:spTree>
    <p:extLst>
      <p:ext uri="{BB962C8B-B14F-4D97-AF65-F5344CB8AC3E}">
        <p14:creationId xmlns:p14="http://schemas.microsoft.com/office/powerpoint/2010/main" val="1061493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679-CA16-97D3-08B3-42524823CD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E48912-B35A-E9C5-E614-072BB084A7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13FFB6-4852-97D9-477F-27A3B5EB8942}"/>
              </a:ext>
            </a:extLst>
          </p:cNvPr>
          <p:cNvSpPr>
            <a:spLocks noGrp="1"/>
          </p:cNvSpPr>
          <p:nvPr>
            <p:ph type="dt" sz="half" idx="10"/>
          </p:nvPr>
        </p:nvSpPr>
        <p:spPr/>
        <p:txBody>
          <a:bodyPr/>
          <a:lstStyle/>
          <a:p>
            <a:fld id="{3C5107EA-EDAB-48C3-BC29-90B67C567E8A}" type="datetime1">
              <a:rPr lang="en-US" smtClean="0"/>
              <a:t>11/16/2024</a:t>
            </a:fld>
            <a:endParaRPr lang="en-US"/>
          </a:p>
        </p:txBody>
      </p:sp>
      <p:sp>
        <p:nvSpPr>
          <p:cNvPr id="5" name="Footer Placeholder 4">
            <a:extLst>
              <a:ext uri="{FF2B5EF4-FFF2-40B4-BE49-F238E27FC236}">
                <a16:creationId xmlns:a16="http://schemas.microsoft.com/office/drawing/2014/main" id="{8D0A3F25-EB5A-F436-DF25-DA5899FD02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12CE5-C15D-CDDD-CE5C-F8CAFBE1254D}"/>
              </a:ext>
            </a:extLst>
          </p:cNvPr>
          <p:cNvSpPr>
            <a:spLocks noGrp="1"/>
          </p:cNvSpPr>
          <p:nvPr>
            <p:ph type="sldNum" sz="quarter" idx="12"/>
          </p:nvPr>
        </p:nvSpPr>
        <p:spPr/>
        <p:txBody>
          <a:bodyPr/>
          <a:lstStyle/>
          <a:p>
            <a:fld id="{EA816D0E-01D5-4C40-903D-C1C8B29B6D50}" type="slidenum">
              <a:rPr lang="en-US" smtClean="0"/>
              <a:t>‹#›</a:t>
            </a:fld>
            <a:endParaRPr lang="en-US"/>
          </a:p>
        </p:txBody>
      </p:sp>
    </p:spTree>
    <p:extLst>
      <p:ext uri="{BB962C8B-B14F-4D97-AF65-F5344CB8AC3E}">
        <p14:creationId xmlns:p14="http://schemas.microsoft.com/office/powerpoint/2010/main" val="2300021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4EB9C-C5AA-4B99-2B0B-1DFAB3BE2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3CC7C1-A8CA-B529-37DE-B2F5569B11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89A3E-C88F-9F63-3E90-BF79DF3221BB}"/>
              </a:ext>
            </a:extLst>
          </p:cNvPr>
          <p:cNvSpPr>
            <a:spLocks noGrp="1"/>
          </p:cNvSpPr>
          <p:nvPr>
            <p:ph type="dt" sz="half" idx="10"/>
          </p:nvPr>
        </p:nvSpPr>
        <p:spPr/>
        <p:txBody>
          <a:bodyPr/>
          <a:lstStyle/>
          <a:p>
            <a:fld id="{D0B3EE0C-72EF-4716-9E33-E67785B92D8A}" type="datetime1">
              <a:rPr lang="en-US" smtClean="0"/>
              <a:t>11/16/2024</a:t>
            </a:fld>
            <a:endParaRPr lang="en-US"/>
          </a:p>
        </p:txBody>
      </p:sp>
      <p:sp>
        <p:nvSpPr>
          <p:cNvPr id="5" name="Footer Placeholder 4">
            <a:extLst>
              <a:ext uri="{FF2B5EF4-FFF2-40B4-BE49-F238E27FC236}">
                <a16:creationId xmlns:a16="http://schemas.microsoft.com/office/drawing/2014/main" id="{232D2EBB-E72B-4F3B-EE8A-F2F274D7C3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CF2487-B330-9723-5D32-0BDAB2A82876}"/>
              </a:ext>
            </a:extLst>
          </p:cNvPr>
          <p:cNvSpPr>
            <a:spLocks noGrp="1"/>
          </p:cNvSpPr>
          <p:nvPr>
            <p:ph type="sldNum" sz="quarter" idx="12"/>
          </p:nvPr>
        </p:nvSpPr>
        <p:spPr/>
        <p:txBody>
          <a:bodyPr/>
          <a:lstStyle/>
          <a:p>
            <a:fld id="{EA816D0E-01D5-4C40-903D-C1C8B29B6D50}" type="slidenum">
              <a:rPr lang="en-US" smtClean="0"/>
              <a:t>‹#›</a:t>
            </a:fld>
            <a:endParaRPr lang="en-US"/>
          </a:p>
        </p:txBody>
      </p:sp>
    </p:spTree>
    <p:extLst>
      <p:ext uri="{BB962C8B-B14F-4D97-AF65-F5344CB8AC3E}">
        <p14:creationId xmlns:p14="http://schemas.microsoft.com/office/powerpoint/2010/main" val="374736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1569A-C31E-DFBF-5EA4-C54B503108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E8B802-AA90-88B0-A9F7-446362CAB2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352481-3F6B-9AAF-F3AD-D406209F88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F2CA5E-D5B1-E111-B16F-667162655832}"/>
              </a:ext>
            </a:extLst>
          </p:cNvPr>
          <p:cNvSpPr>
            <a:spLocks noGrp="1"/>
          </p:cNvSpPr>
          <p:nvPr>
            <p:ph type="dt" sz="half" idx="10"/>
          </p:nvPr>
        </p:nvSpPr>
        <p:spPr/>
        <p:txBody>
          <a:bodyPr/>
          <a:lstStyle/>
          <a:p>
            <a:fld id="{4973997D-C3FE-4C39-8A5D-0F03E83B5ECF}" type="datetime1">
              <a:rPr lang="en-US" smtClean="0"/>
              <a:t>11/16/2024</a:t>
            </a:fld>
            <a:endParaRPr lang="en-US"/>
          </a:p>
        </p:txBody>
      </p:sp>
      <p:sp>
        <p:nvSpPr>
          <p:cNvPr id="6" name="Footer Placeholder 5">
            <a:extLst>
              <a:ext uri="{FF2B5EF4-FFF2-40B4-BE49-F238E27FC236}">
                <a16:creationId xmlns:a16="http://schemas.microsoft.com/office/drawing/2014/main" id="{BA1FA642-9DFB-56C5-28A6-C1204C8D25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10C1AB-E8E6-41B2-7F44-1C10C83B3344}"/>
              </a:ext>
            </a:extLst>
          </p:cNvPr>
          <p:cNvSpPr>
            <a:spLocks noGrp="1"/>
          </p:cNvSpPr>
          <p:nvPr>
            <p:ph type="sldNum" sz="quarter" idx="12"/>
          </p:nvPr>
        </p:nvSpPr>
        <p:spPr/>
        <p:txBody>
          <a:bodyPr/>
          <a:lstStyle/>
          <a:p>
            <a:fld id="{EA816D0E-01D5-4C40-903D-C1C8B29B6D50}" type="slidenum">
              <a:rPr lang="en-US" smtClean="0"/>
              <a:t>‹#›</a:t>
            </a:fld>
            <a:endParaRPr lang="en-US"/>
          </a:p>
        </p:txBody>
      </p:sp>
    </p:spTree>
    <p:extLst>
      <p:ext uri="{BB962C8B-B14F-4D97-AF65-F5344CB8AC3E}">
        <p14:creationId xmlns:p14="http://schemas.microsoft.com/office/powerpoint/2010/main" val="1250562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7AA10-4C70-262B-6BAA-E1DBB858D5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362445-D9F7-16A2-8333-1921D340FF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C21B9F-3024-502C-2DDA-91CEABA7AC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6FA80E-377E-57E9-3877-F8A4CED6B1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49FFD2-DD02-130E-949A-EF40C5E6D1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93EF85-E0BB-233C-A849-583CB9654917}"/>
              </a:ext>
            </a:extLst>
          </p:cNvPr>
          <p:cNvSpPr>
            <a:spLocks noGrp="1"/>
          </p:cNvSpPr>
          <p:nvPr>
            <p:ph type="dt" sz="half" idx="10"/>
          </p:nvPr>
        </p:nvSpPr>
        <p:spPr/>
        <p:txBody>
          <a:bodyPr/>
          <a:lstStyle/>
          <a:p>
            <a:fld id="{E5F651A4-7A94-478B-B523-B1D3AA827B31}" type="datetime1">
              <a:rPr lang="en-US" smtClean="0"/>
              <a:t>11/16/2024</a:t>
            </a:fld>
            <a:endParaRPr lang="en-US"/>
          </a:p>
        </p:txBody>
      </p:sp>
      <p:sp>
        <p:nvSpPr>
          <p:cNvPr id="8" name="Footer Placeholder 7">
            <a:extLst>
              <a:ext uri="{FF2B5EF4-FFF2-40B4-BE49-F238E27FC236}">
                <a16:creationId xmlns:a16="http://schemas.microsoft.com/office/drawing/2014/main" id="{5CDC5666-EA84-1171-6A5D-4798E8A0BE6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FCC1171-7A9E-6990-06A3-E78C2D274249}"/>
              </a:ext>
            </a:extLst>
          </p:cNvPr>
          <p:cNvSpPr>
            <a:spLocks noGrp="1"/>
          </p:cNvSpPr>
          <p:nvPr>
            <p:ph type="sldNum" sz="quarter" idx="12"/>
          </p:nvPr>
        </p:nvSpPr>
        <p:spPr/>
        <p:txBody>
          <a:bodyPr/>
          <a:lstStyle/>
          <a:p>
            <a:fld id="{EA816D0E-01D5-4C40-903D-C1C8B29B6D50}" type="slidenum">
              <a:rPr lang="en-US" smtClean="0"/>
              <a:t>‹#›</a:t>
            </a:fld>
            <a:endParaRPr lang="en-US"/>
          </a:p>
        </p:txBody>
      </p:sp>
    </p:spTree>
    <p:extLst>
      <p:ext uri="{BB962C8B-B14F-4D97-AF65-F5344CB8AC3E}">
        <p14:creationId xmlns:p14="http://schemas.microsoft.com/office/powerpoint/2010/main" val="1206436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95C46-FA3E-03E0-CA01-A5C75B4B31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652525-A17D-620D-E167-599FF10EE9C2}"/>
              </a:ext>
            </a:extLst>
          </p:cNvPr>
          <p:cNvSpPr>
            <a:spLocks noGrp="1"/>
          </p:cNvSpPr>
          <p:nvPr>
            <p:ph type="dt" sz="half" idx="10"/>
          </p:nvPr>
        </p:nvSpPr>
        <p:spPr/>
        <p:txBody>
          <a:bodyPr/>
          <a:lstStyle/>
          <a:p>
            <a:fld id="{0E8C2355-0FB8-4939-8B02-040607EDC235}" type="datetime1">
              <a:rPr lang="en-US" smtClean="0"/>
              <a:t>11/16/2024</a:t>
            </a:fld>
            <a:endParaRPr lang="en-US"/>
          </a:p>
        </p:txBody>
      </p:sp>
      <p:sp>
        <p:nvSpPr>
          <p:cNvPr id="4" name="Footer Placeholder 3">
            <a:extLst>
              <a:ext uri="{FF2B5EF4-FFF2-40B4-BE49-F238E27FC236}">
                <a16:creationId xmlns:a16="http://schemas.microsoft.com/office/drawing/2014/main" id="{664EDA12-5591-652A-145E-1374462347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C776C2-A28E-CE83-A941-A810743F2ECF}"/>
              </a:ext>
            </a:extLst>
          </p:cNvPr>
          <p:cNvSpPr>
            <a:spLocks noGrp="1"/>
          </p:cNvSpPr>
          <p:nvPr>
            <p:ph type="sldNum" sz="quarter" idx="12"/>
          </p:nvPr>
        </p:nvSpPr>
        <p:spPr/>
        <p:txBody>
          <a:bodyPr/>
          <a:lstStyle/>
          <a:p>
            <a:fld id="{EA816D0E-01D5-4C40-903D-C1C8B29B6D50}" type="slidenum">
              <a:rPr lang="en-US" smtClean="0"/>
              <a:t>‹#›</a:t>
            </a:fld>
            <a:endParaRPr lang="en-US"/>
          </a:p>
        </p:txBody>
      </p:sp>
    </p:spTree>
    <p:extLst>
      <p:ext uri="{BB962C8B-B14F-4D97-AF65-F5344CB8AC3E}">
        <p14:creationId xmlns:p14="http://schemas.microsoft.com/office/powerpoint/2010/main" val="3542956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1B39AB-D012-2A11-9CDC-ED52A42A600F}"/>
              </a:ext>
            </a:extLst>
          </p:cNvPr>
          <p:cNvSpPr>
            <a:spLocks noGrp="1"/>
          </p:cNvSpPr>
          <p:nvPr>
            <p:ph type="dt" sz="half" idx="10"/>
          </p:nvPr>
        </p:nvSpPr>
        <p:spPr/>
        <p:txBody>
          <a:bodyPr/>
          <a:lstStyle/>
          <a:p>
            <a:fld id="{84B29ADB-F15F-406F-99EE-1E9276915733}" type="datetime1">
              <a:rPr lang="en-US" smtClean="0"/>
              <a:t>11/16/2024</a:t>
            </a:fld>
            <a:endParaRPr lang="en-US"/>
          </a:p>
        </p:txBody>
      </p:sp>
      <p:sp>
        <p:nvSpPr>
          <p:cNvPr id="3" name="Footer Placeholder 2">
            <a:extLst>
              <a:ext uri="{FF2B5EF4-FFF2-40B4-BE49-F238E27FC236}">
                <a16:creationId xmlns:a16="http://schemas.microsoft.com/office/drawing/2014/main" id="{D9BDA640-D6F6-72C6-DC16-CEC870431C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124F32-33AA-D39C-60A9-1A825CF99BC9}"/>
              </a:ext>
            </a:extLst>
          </p:cNvPr>
          <p:cNvSpPr>
            <a:spLocks noGrp="1"/>
          </p:cNvSpPr>
          <p:nvPr>
            <p:ph type="sldNum" sz="quarter" idx="12"/>
          </p:nvPr>
        </p:nvSpPr>
        <p:spPr/>
        <p:txBody>
          <a:bodyPr/>
          <a:lstStyle/>
          <a:p>
            <a:fld id="{EA816D0E-01D5-4C40-903D-C1C8B29B6D50}" type="slidenum">
              <a:rPr lang="en-US" smtClean="0"/>
              <a:t>‹#›</a:t>
            </a:fld>
            <a:endParaRPr lang="en-US"/>
          </a:p>
        </p:txBody>
      </p:sp>
    </p:spTree>
    <p:extLst>
      <p:ext uri="{BB962C8B-B14F-4D97-AF65-F5344CB8AC3E}">
        <p14:creationId xmlns:p14="http://schemas.microsoft.com/office/powerpoint/2010/main" val="1342499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2E254-7772-20B9-A603-F6C569E068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476E0F-5E1A-B98D-527D-C044007DEB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A3297D-AADB-4E02-EEC1-18E04FDDF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C26EBF-2E0D-2AB4-C565-81BC94899216}"/>
              </a:ext>
            </a:extLst>
          </p:cNvPr>
          <p:cNvSpPr>
            <a:spLocks noGrp="1"/>
          </p:cNvSpPr>
          <p:nvPr>
            <p:ph type="dt" sz="half" idx="10"/>
          </p:nvPr>
        </p:nvSpPr>
        <p:spPr/>
        <p:txBody>
          <a:bodyPr/>
          <a:lstStyle/>
          <a:p>
            <a:fld id="{6E756E38-2464-49D2-A7AE-2EBF60E7E403}" type="datetime1">
              <a:rPr lang="en-US" smtClean="0"/>
              <a:t>11/16/2024</a:t>
            </a:fld>
            <a:endParaRPr lang="en-US"/>
          </a:p>
        </p:txBody>
      </p:sp>
      <p:sp>
        <p:nvSpPr>
          <p:cNvPr id="6" name="Footer Placeholder 5">
            <a:extLst>
              <a:ext uri="{FF2B5EF4-FFF2-40B4-BE49-F238E27FC236}">
                <a16:creationId xmlns:a16="http://schemas.microsoft.com/office/drawing/2014/main" id="{FC1E3335-9E8E-9226-28F3-C25C439830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DB6360-9DC5-1D9A-017D-EAA0C136FEAF}"/>
              </a:ext>
            </a:extLst>
          </p:cNvPr>
          <p:cNvSpPr>
            <a:spLocks noGrp="1"/>
          </p:cNvSpPr>
          <p:nvPr>
            <p:ph type="sldNum" sz="quarter" idx="12"/>
          </p:nvPr>
        </p:nvSpPr>
        <p:spPr/>
        <p:txBody>
          <a:bodyPr/>
          <a:lstStyle/>
          <a:p>
            <a:fld id="{EA816D0E-01D5-4C40-903D-C1C8B29B6D50}" type="slidenum">
              <a:rPr lang="en-US" smtClean="0"/>
              <a:t>‹#›</a:t>
            </a:fld>
            <a:endParaRPr lang="en-US"/>
          </a:p>
        </p:txBody>
      </p:sp>
    </p:spTree>
    <p:extLst>
      <p:ext uri="{BB962C8B-B14F-4D97-AF65-F5344CB8AC3E}">
        <p14:creationId xmlns:p14="http://schemas.microsoft.com/office/powerpoint/2010/main" val="3539616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ED626-0541-ACF4-E499-C8FD112EB1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6F038F-0897-058B-E8F5-093C8208D4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97E585-DDF5-3CD5-41C6-C63025059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090662-97B4-315B-93BA-96E70E1F36BD}"/>
              </a:ext>
            </a:extLst>
          </p:cNvPr>
          <p:cNvSpPr>
            <a:spLocks noGrp="1"/>
          </p:cNvSpPr>
          <p:nvPr>
            <p:ph type="dt" sz="half" idx="10"/>
          </p:nvPr>
        </p:nvSpPr>
        <p:spPr/>
        <p:txBody>
          <a:bodyPr/>
          <a:lstStyle/>
          <a:p>
            <a:fld id="{35C03AC7-6B52-430B-AC4F-0E4AB90B0825}" type="datetime1">
              <a:rPr lang="en-US" smtClean="0"/>
              <a:t>11/16/2024</a:t>
            </a:fld>
            <a:endParaRPr lang="en-US"/>
          </a:p>
        </p:txBody>
      </p:sp>
      <p:sp>
        <p:nvSpPr>
          <p:cNvPr id="6" name="Footer Placeholder 5">
            <a:extLst>
              <a:ext uri="{FF2B5EF4-FFF2-40B4-BE49-F238E27FC236}">
                <a16:creationId xmlns:a16="http://schemas.microsoft.com/office/drawing/2014/main" id="{C5AE9E34-2465-244B-376E-A1E6F86D61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980859-DDA6-ABF6-F1CE-597A89484C48}"/>
              </a:ext>
            </a:extLst>
          </p:cNvPr>
          <p:cNvSpPr>
            <a:spLocks noGrp="1"/>
          </p:cNvSpPr>
          <p:nvPr>
            <p:ph type="sldNum" sz="quarter" idx="12"/>
          </p:nvPr>
        </p:nvSpPr>
        <p:spPr/>
        <p:txBody>
          <a:bodyPr/>
          <a:lstStyle/>
          <a:p>
            <a:fld id="{EA816D0E-01D5-4C40-903D-C1C8B29B6D50}" type="slidenum">
              <a:rPr lang="en-US" smtClean="0"/>
              <a:t>‹#›</a:t>
            </a:fld>
            <a:endParaRPr lang="en-US"/>
          </a:p>
        </p:txBody>
      </p:sp>
    </p:spTree>
    <p:extLst>
      <p:ext uri="{BB962C8B-B14F-4D97-AF65-F5344CB8AC3E}">
        <p14:creationId xmlns:p14="http://schemas.microsoft.com/office/powerpoint/2010/main" val="2209947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712B2-59CF-6CE6-F06B-0901B0075C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982317-48E1-D46C-E209-6F31F5276D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8F5BA-FBA0-1F99-D809-B20C96FB51B8}"/>
              </a:ext>
            </a:extLst>
          </p:cNvPr>
          <p:cNvSpPr>
            <a:spLocks noGrp="1"/>
          </p:cNvSpPr>
          <p:nvPr>
            <p:ph type="dt" sz="half" idx="10"/>
          </p:nvPr>
        </p:nvSpPr>
        <p:spPr/>
        <p:txBody>
          <a:bodyPr/>
          <a:lstStyle/>
          <a:p>
            <a:fld id="{DECA023C-2F6F-42A0-9D7B-558743D9A2A2}" type="datetime1">
              <a:rPr lang="en-US" smtClean="0"/>
              <a:t>11/16/2024</a:t>
            </a:fld>
            <a:endParaRPr lang="en-US"/>
          </a:p>
        </p:txBody>
      </p:sp>
      <p:sp>
        <p:nvSpPr>
          <p:cNvPr id="5" name="Footer Placeholder 4">
            <a:extLst>
              <a:ext uri="{FF2B5EF4-FFF2-40B4-BE49-F238E27FC236}">
                <a16:creationId xmlns:a16="http://schemas.microsoft.com/office/drawing/2014/main" id="{735313D1-129C-B75E-2D18-72560104B7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369609-AE53-DC41-E960-1A86D02EAE77}"/>
              </a:ext>
            </a:extLst>
          </p:cNvPr>
          <p:cNvSpPr>
            <a:spLocks noGrp="1"/>
          </p:cNvSpPr>
          <p:nvPr>
            <p:ph type="sldNum" sz="quarter" idx="12"/>
          </p:nvPr>
        </p:nvSpPr>
        <p:spPr/>
        <p:txBody>
          <a:bodyPr/>
          <a:lstStyle/>
          <a:p>
            <a:fld id="{EA816D0E-01D5-4C40-903D-C1C8B29B6D50}" type="slidenum">
              <a:rPr lang="en-US" smtClean="0"/>
              <a:t>‹#›</a:t>
            </a:fld>
            <a:endParaRPr lang="en-US"/>
          </a:p>
        </p:txBody>
      </p:sp>
    </p:spTree>
    <p:extLst>
      <p:ext uri="{BB962C8B-B14F-4D97-AF65-F5344CB8AC3E}">
        <p14:creationId xmlns:p14="http://schemas.microsoft.com/office/powerpoint/2010/main" val="3492541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63A490-C470-6231-3FCC-82AE0B2625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545B91-735E-1227-3B39-305F2BF9CE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CA3CC0-715C-CBE9-7975-662C32FE6795}"/>
              </a:ext>
            </a:extLst>
          </p:cNvPr>
          <p:cNvSpPr>
            <a:spLocks noGrp="1"/>
          </p:cNvSpPr>
          <p:nvPr>
            <p:ph type="dt" sz="half" idx="10"/>
          </p:nvPr>
        </p:nvSpPr>
        <p:spPr/>
        <p:txBody>
          <a:bodyPr/>
          <a:lstStyle/>
          <a:p>
            <a:fld id="{9752FABA-0BE5-4962-AF82-66EC6B6ADF23}" type="datetime1">
              <a:rPr lang="en-US" smtClean="0"/>
              <a:t>11/16/2024</a:t>
            </a:fld>
            <a:endParaRPr lang="en-US"/>
          </a:p>
        </p:txBody>
      </p:sp>
      <p:sp>
        <p:nvSpPr>
          <p:cNvPr id="5" name="Footer Placeholder 4">
            <a:extLst>
              <a:ext uri="{FF2B5EF4-FFF2-40B4-BE49-F238E27FC236}">
                <a16:creationId xmlns:a16="http://schemas.microsoft.com/office/drawing/2014/main" id="{F53AB207-5CBB-0E35-B405-B4B2640256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61033F-9A1D-D4ED-1FEC-389970540B18}"/>
              </a:ext>
            </a:extLst>
          </p:cNvPr>
          <p:cNvSpPr>
            <a:spLocks noGrp="1"/>
          </p:cNvSpPr>
          <p:nvPr>
            <p:ph type="sldNum" sz="quarter" idx="12"/>
          </p:nvPr>
        </p:nvSpPr>
        <p:spPr/>
        <p:txBody>
          <a:bodyPr/>
          <a:lstStyle/>
          <a:p>
            <a:fld id="{EA816D0E-01D5-4C40-903D-C1C8B29B6D50}" type="slidenum">
              <a:rPr lang="en-US" smtClean="0"/>
              <a:t>‹#›</a:t>
            </a:fld>
            <a:endParaRPr lang="en-US"/>
          </a:p>
        </p:txBody>
      </p:sp>
    </p:spTree>
    <p:extLst>
      <p:ext uri="{BB962C8B-B14F-4D97-AF65-F5344CB8AC3E}">
        <p14:creationId xmlns:p14="http://schemas.microsoft.com/office/powerpoint/2010/main" val="3558098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440BAD-E45B-3EED-5A81-95ADD5F1BC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B46FB-1C3E-2C2F-3D42-536B1C1C7B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91BE9A-5DF4-16D6-EB0B-619F531CAB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51E29C-3F90-4377-9F5C-2006892028B2}" type="datetime1">
              <a:rPr lang="en-US" smtClean="0"/>
              <a:t>11/16/2024</a:t>
            </a:fld>
            <a:endParaRPr lang="en-US"/>
          </a:p>
        </p:txBody>
      </p:sp>
      <p:sp>
        <p:nvSpPr>
          <p:cNvPr id="5" name="Footer Placeholder 4">
            <a:extLst>
              <a:ext uri="{FF2B5EF4-FFF2-40B4-BE49-F238E27FC236}">
                <a16:creationId xmlns:a16="http://schemas.microsoft.com/office/drawing/2014/main" id="{E4B9E05F-404C-5229-0449-297461803B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267FB7-8DBB-93E5-F2AA-3AC55E63E1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816D0E-01D5-4C40-903D-C1C8B29B6D50}" type="slidenum">
              <a:rPr lang="en-US" smtClean="0"/>
              <a:t>‹#›</a:t>
            </a:fld>
            <a:endParaRPr lang="en-US"/>
          </a:p>
        </p:txBody>
      </p:sp>
    </p:spTree>
    <p:extLst>
      <p:ext uri="{BB962C8B-B14F-4D97-AF65-F5344CB8AC3E}">
        <p14:creationId xmlns:p14="http://schemas.microsoft.com/office/powerpoint/2010/main" val="1941604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kaggle.com/datasets/pavansubhasht/ibm-hr-analytics-attrition-dataset"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www.datacamp.com/tutorial/correlation-matrix-excel" TargetMode="External"/><Relationship Id="rId3" Type="http://schemas.openxmlformats.org/officeDocument/2006/relationships/hyperlink" Target="https://www.kaggle.com/datasets/pavansubhasht/ibm-hr-analytics-attrition-dataset" TargetMode="External"/><Relationship Id="rId7" Type="http://schemas.openxmlformats.org/officeDocument/2006/relationships/hyperlink" Target="https://github.com/rcilino/Data-Project-Portfolio"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3E9AD-E08C-57A4-2D90-52593213638B}"/>
              </a:ext>
            </a:extLst>
          </p:cNvPr>
          <p:cNvSpPr>
            <a:spLocks noGrp="1"/>
          </p:cNvSpPr>
          <p:nvPr>
            <p:ph type="ctrTitle"/>
          </p:nvPr>
        </p:nvSpPr>
        <p:spPr>
          <a:xfrm>
            <a:off x="1524000" y="1563191"/>
            <a:ext cx="9144000" cy="1633335"/>
          </a:xfrm>
        </p:spPr>
        <p:txBody>
          <a:bodyPr>
            <a:normAutofit fontScale="90000"/>
          </a:bodyPr>
          <a:lstStyle/>
          <a:p>
            <a:r>
              <a:rPr lang="en-US" dirty="0"/>
              <a:t>Methodologies for Determining Student Performance Risk</a:t>
            </a:r>
          </a:p>
        </p:txBody>
      </p:sp>
      <p:sp>
        <p:nvSpPr>
          <p:cNvPr id="3" name="Subtitle 2">
            <a:extLst>
              <a:ext uri="{FF2B5EF4-FFF2-40B4-BE49-F238E27FC236}">
                <a16:creationId xmlns:a16="http://schemas.microsoft.com/office/drawing/2014/main" id="{3D5A3114-4CC3-3C13-71AB-B8531049A1DD}"/>
              </a:ext>
            </a:extLst>
          </p:cNvPr>
          <p:cNvSpPr>
            <a:spLocks noGrp="1"/>
          </p:cNvSpPr>
          <p:nvPr>
            <p:ph type="subTitle" idx="1"/>
          </p:nvPr>
        </p:nvSpPr>
        <p:spPr>
          <a:xfrm>
            <a:off x="1524000" y="3176494"/>
            <a:ext cx="9144000" cy="969962"/>
          </a:xfrm>
        </p:spPr>
        <p:txBody>
          <a:bodyPr>
            <a:normAutofit/>
          </a:bodyPr>
          <a:lstStyle/>
          <a:p>
            <a:r>
              <a:rPr lang="en-US" dirty="0"/>
              <a:t>Robert Cilino, M.B.A. – Independent Researcher</a:t>
            </a:r>
          </a:p>
          <a:p>
            <a:r>
              <a:rPr lang="en-US" dirty="0"/>
              <a:t>Mohammadreza </a:t>
            </a:r>
            <a:r>
              <a:rPr lang="en-US" dirty="0" err="1"/>
              <a:t>Shojaei</a:t>
            </a:r>
            <a:r>
              <a:rPr lang="en-US" dirty="0"/>
              <a:t> Kol </a:t>
            </a:r>
            <a:r>
              <a:rPr lang="en-US" dirty="0" err="1"/>
              <a:t>Kachi</a:t>
            </a:r>
            <a:r>
              <a:rPr lang="en-US" dirty="0"/>
              <a:t>, M.S. – Keuka College</a:t>
            </a:r>
          </a:p>
        </p:txBody>
      </p:sp>
      <p:pic>
        <p:nvPicPr>
          <p:cNvPr id="5" name="Picture 4" descr="A white line on a surface&#10;&#10;Description automatically generated with medium confidence">
            <a:extLst>
              <a:ext uri="{FF2B5EF4-FFF2-40B4-BE49-F238E27FC236}">
                <a16:creationId xmlns:a16="http://schemas.microsoft.com/office/drawing/2014/main" id="{E18A5B9A-4052-0486-6410-0C9769B748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6" name="Rectangle 5">
            <a:extLst>
              <a:ext uri="{FF2B5EF4-FFF2-40B4-BE49-F238E27FC236}">
                <a16:creationId xmlns:a16="http://schemas.microsoft.com/office/drawing/2014/main" id="{C3A32E91-5EE3-107B-6E90-409AB9BB12BB}"/>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NEAIR Conference 2024 – Newport, RI</a:t>
            </a:r>
          </a:p>
        </p:txBody>
      </p:sp>
      <p:pic>
        <p:nvPicPr>
          <p:cNvPr id="8" name="Picture 7" descr="A person in a suit and tie&#10;&#10;Description automatically generated">
            <a:extLst>
              <a:ext uri="{FF2B5EF4-FFF2-40B4-BE49-F238E27FC236}">
                <a16:creationId xmlns:a16="http://schemas.microsoft.com/office/drawing/2014/main" id="{DFD3ACEC-FCC0-E6FF-96A7-95A89EE8B1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5580" y="3914330"/>
            <a:ext cx="2086419" cy="2086419"/>
          </a:xfrm>
          <a:prstGeom prst="rect">
            <a:avLst/>
          </a:prstGeom>
        </p:spPr>
      </p:pic>
      <p:sp>
        <p:nvSpPr>
          <p:cNvPr id="11" name="TextBox 10">
            <a:extLst>
              <a:ext uri="{FF2B5EF4-FFF2-40B4-BE49-F238E27FC236}">
                <a16:creationId xmlns:a16="http://schemas.microsoft.com/office/drawing/2014/main" id="{BD3FE801-BB1F-6FD5-B547-E050DFEFC354}"/>
              </a:ext>
            </a:extLst>
          </p:cNvPr>
          <p:cNvSpPr txBox="1"/>
          <p:nvPr/>
        </p:nvSpPr>
        <p:spPr>
          <a:xfrm>
            <a:off x="3838298" y="4499304"/>
            <a:ext cx="4515403" cy="461665"/>
          </a:xfrm>
          <a:prstGeom prst="rect">
            <a:avLst/>
          </a:prstGeom>
          <a:noFill/>
        </p:spPr>
        <p:txBody>
          <a:bodyPr wrap="none" rtlCol="0">
            <a:spAutoFit/>
          </a:bodyPr>
          <a:lstStyle/>
          <a:p>
            <a:r>
              <a:rPr lang="en-US" sz="2400" dirty="0"/>
              <a:t>Special Thanks to Dr. Carol Lugg</a:t>
            </a:r>
          </a:p>
        </p:txBody>
      </p:sp>
      <p:pic>
        <p:nvPicPr>
          <p:cNvPr id="7" name="Picture 6" descr="A person in a black jacket and purple hat&#10;&#10;Description automatically generated">
            <a:extLst>
              <a:ext uri="{FF2B5EF4-FFF2-40B4-BE49-F238E27FC236}">
                <a16:creationId xmlns:a16="http://schemas.microsoft.com/office/drawing/2014/main" id="{E684BCFA-2963-2D9B-6280-2666AB8F7140}"/>
              </a:ext>
            </a:extLst>
          </p:cNvPr>
          <p:cNvPicPr>
            <a:picLocks noChangeAspect="1"/>
          </p:cNvPicPr>
          <p:nvPr/>
        </p:nvPicPr>
        <p:blipFill>
          <a:blip r:embed="rId4">
            <a:extLst>
              <a:ext uri="{28A0092B-C50C-407E-A947-70E740481C1C}">
                <a14:useLocalDpi xmlns:a14="http://schemas.microsoft.com/office/drawing/2010/main" val="0"/>
              </a:ext>
            </a:extLst>
          </a:blip>
          <a:srcRect b="25012"/>
          <a:stretch/>
        </p:blipFill>
        <p:spPr>
          <a:xfrm>
            <a:off x="0" y="3917219"/>
            <a:ext cx="2020824" cy="2083530"/>
          </a:xfrm>
          <a:prstGeom prst="rect">
            <a:avLst/>
          </a:prstGeom>
        </p:spPr>
      </p:pic>
    </p:spTree>
    <p:extLst>
      <p:ext uri="{BB962C8B-B14F-4D97-AF65-F5344CB8AC3E}">
        <p14:creationId xmlns:p14="http://schemas.microsoft.com/office/powerpoint/2010/main" val="1403250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A812-794C-EBA9-C970-AF672543652C}"/>
            </a:ext>
          </a:extLst>
        </p:cNvPr>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F8B3E1B7-F9C7-9EA3-5C7C-1E6B99A575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E1CC58BD-F7F5-867D-75C8-53E49719F821}"/>
              </a:ext>
            </a:extLst>
          </p:cNvPr>
          <p:cNvSpPr>
            <a:spLocks noGrp="1"/>
          </p:cNvSpPr>
          <p:nvPr>
            <p:ph type="title"/>
          </p:nvPr>
        </p:nvSpPr>
        <p:spPr>
          <a:xfrm>
            <a:off x="124968" y="-62765"/>
            <a:ext cx="10515600" cy="1325563"/>
          </a:xfrm>
        </p:spPr>
        <p:txBody>
          <a:bodyPr/>
          <a:lstStyle/>
          <a:p>
            <a:r>
              <a:rPr lang="en-US" dirty="0"/>
              <a:t>About Us</a:t>
            </a:r>
          </a:p>
        </p:txBody>
      </p:sp>
      <p:sp>
        <p:nvSpPr>
          <p:cNvPr id="3" name="Content Placeholder 2">
            <a:extLst>
              <a:ext uri="{FF2B5EF4-FFF2-40B4-BE49-F238E27FC236}">
                <a16:creationId xmlns:a16="http://schemas.microsoft.com/office/drawing/2014/main" id="{B43092AA-2A32-1B52-1DAD-818FF9ECDE40}"/>
              </a:ext>
            </a:extLst>
          </p:cNvPr>
          <p:cNvSpPr>
            <a:spLocks noGrp="1"/>
          </p:cNvSpPr>
          <p:nvPr>
            <p:ph idx="1"/>
          </p:nvPr>
        </p:nvSpPr>
        <p:spPr>
          <a:xfrm>
            <a:off x="838200" y="1662010"/>
            <a:ext cx="10515600" cy="4437038"/>
          </a:xfrm>
        </p:spPr>
        <p:txBody>
          <a:bodyPr>
            <a:normAutofit/>
          </a:bodyPr>
          <a:lstStyle/>
          <a:p>
            <a:r>
              <a:rPr lang="en-US" dirty="0"/>
              <a:t>Robert Cilino</a:t>
            </a:r>
          </a:p>
          <a:p>
            <a:pPr lvl="1"/>
            <a:r>
              <a:rPr lang="en-US" dirty="0"/>
              <a:t>Prev. Keuka College – Asst. Dir. Of Institutional Research 2018-2024</a:t>
            </a:r>
          </a:p>
          <a:p>
            <a:pPr lvl="2"/>
            <a:r>
              <a:rPr lang="en-US" dirty="0"/>
              <a:t>Methodologies developed with Mo at Keuka College</a:t>
            </a:r>
          </a:p>
          <a:p>
            <a:pPr lvl="1"/>
            <a:r>
              <a:rPr lang="en-US" dirty="0"/>
              <a:t>Currently interim Institutional Researcher at Alfred University</a:t>
            </a:r>
          </a:p>
          <a:p>
            <a:pPr lvl="1"/>
            <a:r>
              <a:rPr lang="en-US" dirty="0"/>
              <a:t>Head Coach, Alpine Skiing – Alfred University</a:t>
            </a:r>
          </a:p>
          <a:p>
            <a:pPr lvl="1"/>
            <a:r>
              <a:rPr lang="en-US" dirty="0"/>
              <a:t>B.S., M.B.A. - Alfred University</a:t>
            </a:r>
          </a:p>
          <a:p>
            <a:r>
              <a:rPr lang="en-US" dirty="0"/>
              <a:t>Mohammadreza </a:t>
            </a:r>
            <a:r>
              <a:rPr lang="en-US" dirty="0" err="1"/>
              <a:t>Shojaei</a:t>
            </a:r>
            <a:r>
              <a:rPr lang="en-US" dirty="0"/>
              <a:t> Kol Kachi – “Mo”</a:t>
            </a:r>
          </a:p>
          <a:p>
            <a:pPr lvl="1"/>
            <a:r>
              <a:rPr lang="en-US" dirty="0"/>
              <a:t>Retention Data Analyst – Keuka College</a:t>
            </a:r>
          </a:p>
          <a:p>
            <a:pPr lvl="1"/>
            <a:r>
              <a:rPr lang="en-US" dirty="0"/>
              <a:t>B.S. Industrial Engineering - Iran University of Science and Technology</a:t>
            </a:r>
          </a:p>
          <a:p>
            <a:pPr lvl="1"/>
            <a:r>
              <a:rPr lang="en-US" dirty="0"/>
              <a:t>M.S. Data Science – Rochester Institute of Technology</a:t>
            </a:r>
          </a:p>
        </p:txBody>
      </p:sp>
      <p:sp>
        <p:nvSpPr>
          <p:cNvPr id="5" name="Rectangle 4">
            <a:extLst>
              <a:ext uri="{FF2B5EF4-FFF2-40B4-BE49-F238E27FC236}">
                <a16:creationId xmlns:a16="http://schemas.microsoft.com/office/drawing/2014/main" id="{8D65BDE9-617F-22A7-BCBD-BB293F40A9C7}"/>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6" name="Slide Number Placeholder 5">
            <a:extLst>
              <a:ext uri="{FF2B5EF4-FFF2-40B4-BE49-F238E27FC236}">
                <a16:creationId xmlns:a16="http://schemas.microsoft.com/office/drawing/2014/main" id="{FC9112E6-ECDD-F66A-1F5B-8A4EEBDAF9AA}"/>
              </a:ext>
            </a:extLst>
          </p:cNvPr>
          <p:cNvSpPr>
            <a:spLocks noGrp="1"/>
          </p:cNvSpPr>
          <p:nvPr>
            <p:ph type="sldNum" sz="quarter" idx="12"/>
          </p:nvPr>
        </p:nvSpPr>
        <p:spPr/>
        <p:txBody>
          <a:bodyPr/>
          <a:lstStyle/>
          <a:p>
            <a:fld id="{EA816D0E-01D5-4C40-903D-C1C8B29B6D50}" type="slidenum">
              <a:rPr lang="en-US" smtClean="0"/>
              <a:t>2</a:t>
            </a:fld>
            <a:endParaRPr lang="en-US"/>
          </a:p>
        </p:txBody>
      </p:sp>
    </p:spTree>
    <p:extLst>
      <p:ext uri="{BB962C8B-B14F-4D97-AF65-F5344CB8AC3E}">
        <p14:creationId xmlns:p14="http://schemas.microsoft.com/office/powerpoint/2010/main" val="575414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0515600" cy="1325563"/>
          </a:xfrm>
        </p:spPr>
        <p:txBody>
          <a:bodyPr/>
          <a:lstStyle/>
          <a:p>
            <a:r>
              <a:rPr lang="en-US" dirty="0"/>
              <a:t>What is Performance? What is Risk?</a:t>
            </a:r>
          </a:p>
        </p:txBody>
      </p:sp>
      <p:sp>
        <p:nvSpPr>
          <p:cNvPr id="3" name="Content Placeholder 2">
            <a:extLst>
              <a:ext uri="{FF2B5EF4-FFF2-40B4-BE49-F238E27FC236}">
                <a16:creationId xmlns:a16="http://schemas.microsoft.com/office/drawing/2014/main" id="{BB173753-7985-00D8-9CDD-67C47E53F9D7}"/>
              </a:ext>
            </a:extLst>
          </p:cNvPr>
          <p:cNvSpPr>
            <a:spLocks noGrp="1"/>
          </p:cNvSpPr>
          <p:nvPr>
            <p:ph idx="1"/>
          </p:nvPr>
        </p:nvSpPr>
        <p:spPr>
          <a:xfrm>
            <a:off x="838200" y="1656270"/>
            <a:ext cx="10515600" cy="4351338"/>
          </a:xfrm>
        </p:spPr>
        <p:txBody>
          <a:bodyPr>
            <a:normAutofit/>
          </a:bodyPr>
          <a:lstStyle/>
          <a:p>
            <a:r>
              <a:rPr lang="en-US" dirty="0"/>
              <a:t>Performance:</a:t>
            </a:r>
          </a:p>
          <a:p>
            <a:pPr lvl="1"/>
            <a:r>
              <a:rPr lang="en-US" dirty="0"/>
              <a:t>Dependent Variable</a:t>
            </a:r>
          </a:p>
          <a:p>
            <a:pPr lvl="2"/>
            <a:r>
              <a:rPr lang="en-US" dirty="0"/>
              <a:t>Retention or Persistence</a:t>
            </a:r>
          </a:p>
          <a:p>
            <a:pPr lvl="2"/>
            <a:r>
              <a:rPr lang="en-US" dirty="0"/>
              <a:t>Graduation</a:t>
            </a:r>
          </a:p>
          <a:p>
            <a:pPr lvl="2"/>
            <a:r>
              <a:rPr lang="en-US" dirty="0"/>
              <a:t>Term or Cumulative GPA</a:t>
            </a:r>
          </a:p>
          <a:p>
            <a:pPr lvl="2"/>
            <a:r>
              <a:rPr lang="en-US" dirty="0"/>
              <a:t>Whatever you want it to be</a:t>
            </a:r>
          </a:p>
          <a:p>
            <a:r>
              <a:rPr lang="en-US" dirty="0"/>
              <a:t>Risk Factors:</a:t>
            </a:r>
          </a:p>
          <a:p>
            <a:pPr lvl="1"/>
            <a:r>
              <a:rPr lang="en-US" dirty="0"/>
              <a:t>Independent Variable</a:t>
            </a:r>
          </a:p>
          <a:p>
            <a:pPr lvl="2"/>
            <a:r>
              <a:rPr lang="en-US" dirty="0"/>
              <a:t>Anything you can think of! </a:t>
            </a:r>
            <a:r>
              <a:rPr lang="en-US" sz="1000" dirty="0"/>
              <a:t>(that you have data for)</a:t>
            </a:r>
          </a:p>
          <a:p>
            <a:pPr lvl="2"/>
            <a:r>
              <a:rPr lang="en-US" dirty="0"/>
              <a:t>Brainstorm, be creative, don’t get stuck placing preconceptions on any data point before testing them</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6" name="Slide Number Placeholder 5">
            <a:extLst>
              <a:ext uri="{FF2B5EF4-FFF2-40B4-BE49-F238E27FC236}">
                <a16:creationId xmlns:a16="http://schemas.microsoft.com/office/drawing/2014/main" id="{B8B889FC-9CFB-2815-D327-8AF798E7FE56}"/>
              </a:ext>
            </a:extLst>
          </p:cNvPr>
          <p:cNvSpPr>
            <a:spLocks noGrp="1"/>
          </p:cNvSpPr>
          <p:nvPr>
            <p:ph type="sldNum" sz="quarter" idx="12"/>
          </p:nvPr>
        </p:nvSpPr>
        <p:spPr/>
        <p:txBody>
          <a:bodyPr/>
          <a:lstStyle/>
          <a:p>
            <a:fld id="{EA816D0E-01D5-4C40-903D-C1C8B29B6D50}" type="slidenum">
              <a:rPr lang="en-US" smtClean="0"/>
              <a:t>3</a:t>
            </a:fld>
            <a:endParaRPr lang="en-US"/>
          </a:p>
        </p:txBody>
      </p:sp>
    </p:spTree>
    <p:extLst>
      <p:ext uri="{BB962C8B-B14F-4D97-AF65-F5344CB8AC3E}">
        <p14:creationId xmlns:p14="http://schemas.microsoft.com/office/powerpoint/2010/main" val="2047131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0515600" cy="1325563"/>
          </a:xfrm>
        </p:spPr>
        <p:txBody>
          <a:bodyPr/>
          <a:lstStyle/>
          <a:p>
            <a:r>
              <a:rPr lang="en-US" dirty="0"/>
              <a:t>Are there any concerns?</a:t>
            </a:r>
          </a:p>
        </p:txBody>
      </p:sp>
      <p:sp>
        <p:nvSpPr>
          <p:cNvPr id="3" name="Content Placeholder 2">
            <a:extLst>
              <a:ext uri="{FF2B5EF4-FFF2-40B4-BE49-F238E27FC236}">
                <a16:creationId xmlns:a16="http://schemas.microsoft.com/office/drawing/2014/main" id="{BB173753-7985-00D8-9CDD-67C47E53F9D7}"/>
              </a:ext>
            </a:extLst>
          </p:cNvPr>
          <p:cNvSpPr>
            <a:spLocks noGrp="1"/>
          </p:cNvSpPr>
          <p:nvPr>
            <p:ph idx="1"/>
          </p:nvPr>
        </p:nvSpPr>
        <p:spPr>
          <a:xfrm>
            <a:off x="838200" y="1703615"/>
            <a:ext cx="10515600" cy="4197451"/>
          </a:xfrm>
        </p:spPr>
        <p:txBody>
          <a:bodyPr>
            <a:normAutofit fontScale="92500" lnSpcReduction="10000"/>
          </a:bodyPr>
          <a:lstStyle/>
          <a:p>
            <a:r>
              <a:rPr lang="en-US" dirty="0"/>
              <a:t>This should NOT be used to exclude certain applicants or become more selective</a:t>
            </a:r>
          </a:p>
          <a:p>
            <a:r>
              <a:rPr lang="en-US" dirty="0"/>
              <a:t>This should ONLY be used to understand our students and their needs, and to help those who really need it</a:t>
            </a:r>
          </a:p>
          <a:p>
            <a:r>
              <a:rPr lang="en-US" dirty="0"/>
              <a:t>The later outcomes should show that we have the power to identify these “at-risk” students</a:t>
            </a:r>
          </a:p>
          <a:p>
            <a:r>
              <a:rPr lang="en-US" dirty="0"/>
              <a:t>We need to use that power responsibly to support those students instead of excluding them at the outset</a:t>
            </a:r>
          </a:p>
          <a:p>
            <a:r>
              <a:rPr lang="en-US" dirty="0"/>
              <a:t>There are so many personal affects involved that we may not be able to get to a perfect model, but don’t let that stop us from making one that still works</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6" name="Slide Number Placeholder 5">
            <a:extLst>
              <a:ext uri="{FF2B5EF4-FFF2-40B4-BE49-F238E27FC236}">
                <a16:creationId xmlns:a16="http://schemas.microsoft.com/office/drawing/2014/main" id="{F028C92E-61CA-28A0-1304-AEE7C143BB96}"/>
              </a:ext>
            </a:extLst>
          </p:cNvPr>
          <p:cNvSpPr>
            <a:spLocks noGrp="1"/>
          </p:cNvSpPr>
          <p:nvPr>
            <p:ph type="sldNum" sz="quarter" idx="12"/>
          </p:nvPr>
        </p:nvSpPr>
        <p:spPr/>
        <p:txBody>
          <a:bodyPr/>
          <a:lstStyle/>
          <a:p>
            <a:fld id="{EA816D0E-01D5-4C40-903D-C1C8B29B6D50}" type="slidenum">
              <a:rPr lang="en-US" smtClean="0"/>
              <a:t>4</a:t>
            </a:fld>
            <a:endParaRPr lang="en-US"/>
          </a:p>
        </p:txBody>
      </p:sp>
    </p:spTree>
    <p:extLst>
      <p:ext uri="{BB962C8B-B14F-4D97-AF65-F5344CB8AC3E}">
        <p14:creationId xmlns:p14="http://schemas.microsoft.com/office/powerpoint/2010/main" val="1588042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9FFE8-1C15-EFD7-7DA2-D424CDAB1C26}"/>
            </a:ext>
          </a:extLst>
        </p:cNvPr>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4431C856-B63F-E105-9E1B-D81C7C9415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06FE66C6-1D52-A52A-E59D-4FD874304BCF}"/>
              </a:ext>
            </a:extLst>
          </p:cNvPr>
          <p:cNvSpPr>
            <a:spLocks noGrp="1"/>
          </p:cNvSpPr>
          <p:nvPr>
            <p:ph type="title"/>
          </p:nvPr>
        </p:nvSpPr>
        <p:spPr>
          <a:xfrm>
            <a:off x="124968" y="-62765"/>
            <a:ext cx="10515600" cy="1325563"/>
          </a:xfrm>
        </p:spPr>
        <p:txBody>
          <a:bodyPr/>
          <a:lstStyle/>
          <a:p>
            <a:r>
              <a:rPr lang="en-US" dirty="0"/>
              <a:t>How difficult is this?</a:t>
            </a:r>
          </a:p>
        </p:txBody>
      </p:sp>
      <p:sp>
        <p:nvSpPr>
          <p:cNvPr id="3" name="Content Placeholder 2">
            <a:extLst>
              <a:ext uri="{FF2B5EF4-FFF2-40B4-BE49-F238E27FC236}">
                <a16:creationId xmlns:a16="http://schemas.microsoft.com/office/drawing/2014/main" id="{A209B59C-70DD-CD6C-E4EE-F74974598B1C}"/>
              </a:ext>
            </a:extLst>
          </p:cNvPr>
          <p:cNvSpPr>
            <a:spLocks noGrp="1"/>
          </p:cNvSpPr>
          <p:nvPr>
            <p:ph idx="1"/>
          </p:nvPr>
        </p:nvSpPr>
        <p:spPr>
          <a:xfrm>
            <a:off x="838200" y="1656270"/>
            <a:ext cx="10515600" cy="4351338"/>
          </a:xfrm>
        </p:spPr>
        <p:txBody>
          <a:bodyPr>
            <a:normAutofit fontScale="92500" lnSpcReduction="10000"/>
          </a:bodyPr>
          <a:lstStyle/>
          <a:p>
            <a:r>
              <a:rPr lang="en-US" dirty="0"/>
              <a:t>It is as difficult as you need it to be</a:t>
            </a:r>
          </a:p>
          <a:p>
            <a:r>
              <a:rPr lang="en-US" dirty="0"/>
              <a:t>It is as scientific as you need it to be, or have time for, or have the abilities/skills for right now</a:t>
            </a:r>
          </a:p>
          <a:p>
            <a:pPr lvl="1"/>
            <a:r>
              <a:rPr lang="en-US" dirty="0"/>
              <a:t>You can always learn them! </a:t>
            </a:r>
            <a:r>
              <a:rPr lang="en-US" dirty="0">
                <a:sym typeface="Wingdings" panose="05000000000000000000" pitchFamily="2" charset="2"/>
              </a:rPr>
              <a:t></a:t>
            </a:r>
          </a:p>
          <a:p>
            <a:r>
              <a:rPr lang="en-US" dirty="0">
                <a:sym typeface="Wingdings" panose="05000000000000000000" pitchFamily="2" charset="2"/>
              </a:rPr>
              <a:t>If you’re using a tool, just use the tool</a:t>
            </a:r>
          </a:p>
          <a:p>
            <a:pPr lvl="1"/>
            <a:r>
              <a:rPr lang="en-US" dirty="0">
                <a:sym typeface="Wingdings" panose="05000000000000000000" pitchFamily="2" charset="2"/>
              </a:rPr>
              <a:t>I got worried about doing correlation coefficients for binary/point-Biserial comparisons instead of Phi coefficient</a:t>
            </a:r>
          </a:p>
          <a:p>
            <a:pPr lvl="1"/>
            <a:r>
              <a:rPr lang="en-US" dirty="0">
                <a:sym typeface="Wingdings" panose="05000000000000000000" pitchFamily="2" charset="2"/>
              </a:rPr>
              <a:t>Guess what – Excel and Python’s features spit out the same values for both! – Excel: </a:t>
            </a:r>
            <a:r>
              <a:rPr lang="en-US" dirty="0" err="1">
                <a:sym typeface="Wingdings" panose="05000000000000000000" pitchFamily="2" charset="2"/>
              </a:rPr>
              <a:t>correl</a:t>
            </a:r>
            <a:r>
              <a:rPr lang="en-US" dirty="0">
                <a:sym typeface="Wingdings" panose="05000000000000000000" pitchFamily="2" charset="2"/>
              </a:rPr>
              <a:t>(), Python: </a:t>
            </a:r>
            <a:r>
              <a:rPr lang="en-US" dirty="0" err="1">
                <a:sym typeface="Wingdings" panose="05000000000000000000" pitchFamily="2" charset="2"/>
              </a:rPr>
              <a:t>corr</a:t>
            </a:r>
            <a:r>
              <a:rPr lang="en-US" dirty="0">
                <a:sym typeface="Wingdings" panose="05000000000000000000" pitchFamily="2" charset="2"/>
              </a:rPr>
              <a:t>()</a:t>
            </a:r>
          </a:p>
          <a:p>
            <a:pPr lvl="1"/>
            <a:r>
              <a:rPr lang="en-US" dirty="0">
                <a:sym typeface="Wingdings" panose="05000000000000000000" pitchFamily="2" charset="2"/>
              </a:rPr>
              <a:t>I ran fully-qualified Phi coefficient value formulas in Excel, Excel’s </a:t>
            </a:r>
            <a:r>
              <a:rPr lang="en-US" dirty="0" err="1">
                <a:sym typeface="Wingdings" panose="05000000000000000000" pitchFamily="2" charset="2"/>
              </a:rPr>
              <a:t>correl</a:t>
            </a:r>
            <a:r>
              <a:rPr lang="en-US" dirty="0">
                <a:sym typeface="Wingdings" panose="05000000000000000000" pitchFamily="2" charset="2"/>
              </a:rPr>
              <a:t>() formula came out the same as Phi coefficients for binary comparisons</a:t>
            </a:r>
          </a:p>
          <a:p>
            <a:pPr lvl="2"/>
            <a:r>
              <a:rPr lang="el-GR" dirty="0">
                <a:sym typeface="Wingdings" panose="05000000000000000000" pitchFamily="2" charset="2"/>
              </a:rPr>
              <a:t>Φ = (</a:t>
            </a:r>
            <a:r>
              <a:rPr lang="en-US" dirty="0">
                <a:sym typeface="Wingdings" panose="05000000000000000000" pitchFamily="2" charset="2"/>
              </a:rPr>
              <a:t>AD-BC) / √(A+B)(C+D)(A+C)(B+D) </a:t>
            </a:r>
          </a:p>
        </p:txBody>
      </p:sp>
      <p:sp>
        <p:nvSpPr>
          <p:cNvPr id="5" name="Rectangle 4">
            <a:extLst>
              <a:ext uri="{FF2B5EF4-FFF2-40B4-BE49-F238E27FC236}">
                <a16:creationId xmlns:a16="http://schemas.microsoft.com/office/drawing/2014/main" id="{28D29492-5FD3-B2DB-C612-8D4E01540966}"/>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6" name="Slide Number Placeholder 5">
            <a:extLst>
              <a:ext uri="{FF2B5EF4-FFF2-40B4-BE49-F238E27FC236}">
                <a16:creationId xmlns:a16="http://schemas.microsoft.com/office/drawing/2014/main" id="{EB8E9702-5176-AF87-33FA-72E26DA6B0F8}"/>
              </a:ext>
            </a:extLst>
          </p:cNvPr>
          <p:cNvSpPr>
            <a:spLocks noGrp="1"/>
          </p:cNvSpPr>
          <p:nvPr>
            <p:ph type="sldNum" sz="quarter" idx="12"/>
          </p:nvPr>
        </p:nvSpPr>
        <p:spPr/>
        <p:txBody>
          <a:bodyPr/>
          <a:lstStyle/>
          <a:p>
            <a:fld id="{EA816D0E-01D5-4C40-903D-C1C8B29B6D50}" type="slidenum">
              <a:rPr lang="en-US" smtClean="0"/>
              <a:t>5</a:t>
            </a:fld>
            <a:endParaRPr lang="en-US"/>
          </a:p>
        </p:txBody>
      </p:sp>
    </p:spTree>
    <p:extLst>
      <p:ext uri="{BB962C8B-B14F-4D97-AF65-F5344CB8AC3E}">
        <p14:creationId xmlns:p14="http://schemas.microsoft.com/office/powerpoint/2010/main" val="821868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0515600" cy="1325563"/>
          </a:xfrm>
        </p:spPr>
        <p:txBody>
          <a:bodyPr/>
          <a:lstStyle/>
          <a:p>
            <a:r>
              <a:rPr lang="en-US" dirty="0"/>
              <a:t>How can we determine risk factors?</a:t>
            </a:r>
          </a:p>
        </p:txBody>
      </p:sp>
      <p:sp>
        <p:nvSpPr>
          <p:cNvPr id="3" name="Content Placeholder 2">
            <a:extLst>
              <a:ext uri="{FF2B5EF4-FFF2-40B4-BE49-F238E27FC236}">
                <a16:creationId xmlns:a16="http://schemas.microsoft.com/office/drawing/2014/main" id="{BB173753-7985-00D8-9CDD-67C47E53F9D7}"/>
              </a:ext>
            </a:extLst>
          </p:cNvPr>
          <p:cNvSpPr>
            <a:spLocks noGrp="1"/>
          </p:cNvSpPr>
          <p:nvPr>
            <p:ph idx="1"/>
          </p:nvPr>
        </p:nvSpPr>
        <p:spPr>
          <a:xfrm>
            <a:off x="838200" y="1610396"/>
            <a:ext cx="10515600" cy="4397211"/>
          </a:xfrm>
        </p:spPr>
        <p:txBody>
          <a:bodyPr>
            <a:normAutofit fontScale="92500" lnSpcReduction="10000"/>
          </a:bodyPr>
          <a:lstStyle/>
          <a:p>
            <a:r>
              <a:rPr lang="en-US" dirty="0"/>
              <a:t>Comparing performance metrics directly in a data table</a:t>
            </a:r>
          </a:p>
          <a:p>
            <a:pPr lvl="1"/>
            <a:r>
              <a:rPr lang="en-US" dirty="0"/>
              <a:t>Easy, but need to be mindful of those with smaller N’s </a:t>
            </a:r>
          </a:p>
          <a:p>
            <a:r>
              <a:rPr lang="en-US" dirty="0"/>
              <a:t>Comparing performance metrics in charts</a:t>
            </a:r>
          </a:p>
          <a:p>
            <a:pPr lvl="1"/>
            <a:r>
              <a:rPr lang="en-US" dirty="0"/>
              <a:t>Visual, easier for some to comprehend</a:t>
            </a:r>
          </a:p>
          <a:p>
            <a:pPr lvl="1"/>
            <a:r>
              <a:rPr lang="en-US" dirty="0"/>
              <a:t>Data needs to be structured in a specific manner</a:t>
            </a:r>
          </a:p>
          <a:p>
            <a:pPr lvl="1"/>
            <a:r>
              <a:rPr lang="en-US" dirty="0"/>
              <a:t>Can point out smaller N’s as data label</a:t>
            </a:r>
          </a:p>
          <a:p>
            <a:r>
              <a:rPr lang="en-US" dirty="0"/>
              <a:t>Correlation Coefficients</a:t>
            </a:r>
          </a:p>
          <a:p>
            <a:pPr lvl="1"/>
            <a:r>
              <a:rPr lang="en-US" dirty="0"/>
              <a:t>More difficult</a:t>
            </a:r>
          </a:p>
          <a:p>
            <a:pPr lvl="1"/>
            <a:r>
              <a:rPr lang="en-US" dirty="0"/>
              <a:t>Can be done with many tools – Excel, Python, R, Stata, etc.</a:t>
            </a:r>
          </a:p>
          <a:p>
            <a:r>
              <a:rPr lang="en-US" dirty="0"/>
              <a:t>All 3?</a:t>
            </a:r>
          </a:p>
          <a:p>
            <a:pPr lvl="1"/>
            <a:r>
              <a:rPr lang="en-US" dirty="0"/>
              <a:t>Used in different ways, helps solidify our understanding of the data</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6" name="Slide Number Placeholder 5">
            <a:extLst>
              <a:ext uri="{FF2B5EF4-FFF2-40B4-BE49-F238E27FC236}">
                <a16:creationId xmlns:a16="http://schemas.microsoft.com/office/drawing/2014/main" id="{2159B093-768C-2843-4258-0BE7B17A2EBC}"/>
              </a:ext>
            </a:extLst>
          </p:cNvPr>
          <p:cNvSpPr>
            <a:spLocks noGrp="1"/>
          </p:cNvSpPr>
          <p:nvPr>
            <p:ph type="sldNum" sz="quarter" idx="12"/>
          </p:nvPr>
        </p:nvSpPr>
        <p:spPr/>
        <p:txBody>
          <a:bodyPr/>
          <a:lstStyle/>
          <a:p>
            <a:fld id="{EA816D0E-01D5-4C40-903D-C1C8B29B6D50}" type="slidenum">
              <a:rPr lang="en-US" smtClean="0"/>
              <a:t>6</a:t>
            </a:fld>
            <a:endParaRPr lang="en-US"/>
          </a:p>
        </p:txBody>
      </p:sp>
    </p:spTree>
    <p:extLst>
      <p:ext uri="{BB962C8B-B14F-4D97-AF65-F5344CB8AC3E}">
        <p14:creationId xmlns:p14="http://schemas.microsoft.com/office/powerpoint/2010/main" val="2432212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24CE9-521F-00BC-26D8-3F74C9AEF42F}"/>
            </a:ext>
          </a:extLst>
        </p:cNvPr>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70889A6E-C5AF-02FA-D5AF-E3365DA607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B7415115-F21D-5664-5E91-E5558381D37E}"/>
              </a:ext>
            </a:extLst>
          </p:cNvPr>
          <p:cNvSpPr>
            <a:spLocks noGrp="1"/>
          </p:cNvSpPr>
          <p:nvPr>
            <p:ph type="title"/>
          </p:nvPr>
        </p:nvSpPr>
        <p:spPr>
          <a:xfrm>
            <a:off x="124968" y="-62765"/>
            <a:ext cx="10515600" cy="1325563"/>
          </a:xfrm>
        </p:spPr>
        <p:txBody>
          <a:bodyPr/>
          <a:lstStyle/>
          <a:p>
            <a:r>
              <a:rPr lang="en-US" dirty="0"/>
              <a:t>Caveats of this presentation</a:t>
            </a:r>
          </a:p>
        </p:txBody>
      </p:sp>
      <p:sp>
        <p:nvSpPr>
          <p:cNvPr id="3" name="Content Placeholder 2">
            <a:extLst>
              <a:ext uri="{FF2B5EF4-FFF2-40B4-BE49-F238E27FC236}">
                <a16:creationId xmlns:a16="http://schemas.microsoft.com/office/drawing/2014/main" id="{774D5B34-EEDC-468F-E260-40570D5A11B8}"/>
              </a:ext>
            </a:extLst>
          </p:cNvPr>
          <p:cNvSpPr>
            <a:spLocks noGrp="1"/>
          </p:cNvSpPr>
          <p:nvPr>
            <p:ph idx="1"/>
          </p:nvPr>
        </p:nvSpPr>
        <p:spPr>
          <a:xfrm>
            <a:off x="838200" y="1610396"/>
            <a:ext cx="10515600" cy="4397211"/>
          </a:xfrm>
        </p:spPr>
        <p:txBody>
          <a:bodyPr>
            <a:normAutofit/>
          </a:bodyPr>
          <a:lstStyle/>
          <a:p>
            <a:r>
              <a:rPr lang="en-US" dirty="0"/>
              <a:t>I am no longer employed at Keuka College, Mo could not attend</a:t>
            </a:r>
          </a:p>
          <a:p>
            <a:r>
              <a:rPr lang="en-US" dirty="0"/>
              <a:t>We are talking in hypotheticals and examples</a:t>
            </a:r>
          </a:p>
          <a:p>
            <a:r>
              <a:rPr lang="en-US" dirty="0"/>
              <a:t>Any data shown is either fictional,</a:t>
            </a:r>
          </a:p>
          <a:p>
            <a:r>
              <a:rPr lang="en-US" dirty="0"/>
              <a:t>or using a free Kaggle dataset</a:t>
            </a:r>
          </a:p>
          <a:p>
            <a:pPr lvl="1"/>
            <a:r>
              <a:rPr lang="en-US" dirty="0"/>
              <a:t>IBM HR Analytics Employee Attrition &amp; Performance</a:t>
            </a:r>
          </a:p>
          <a:p>
            <a:pPr lvl="1"/>
            <a:r>
              <a:rPr lang="en-US" dirty="0">
                <a:hlinkClick r:id="rId3"/>
              </a:rPr>
              <a:t>https://www.kaggle.com/datasets/pavansubhasht/ibm-hr-analytics-attrition-dataset</a:t>
            </a:r>
            <a:endParaRPr lang="en-US" dirty="0"/>
          </a:p>
          <a:p>
            <a:pPr lvl="1"/>
            <a:r>
              <a:rPr lang="en-US" dirty="0"/>
              <a:t>Fictional dataset created by IBM data scientists</a:t>
            </a:r>
          </a:p>
        </p:txBody>
      </p:sp>
      <p:sp>
        <p:nvSpPr>
          <p:cNvPr id="5" name="Rectangle 4">
            <a:extLst>
              <a:ext uri="{FF2B5EF4-FFF2-40B4-BE49-F238E27FC236}">
                <a16:creationId xmlns:a16="http://schemas.microsoft.com/office/drawing/2014/main" id="{53F8B4F7-8B3B-D479-D538-FA09D128F379}"/>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pic>
        <p:nvPicPr>
          <p:cNvPr id="9" name="Picture 8" descr="A qr code with black squares&#10;&#10;Description automatically generated">
            <a:extLst>
              <a:ext uri="{FF2B5EF4-FFF2-40B4-BE49-F238E27FC236}">
                <a16:creationId xmlns:a16="http://schemas.microsoft.com/office/drawing/2014/main" id="{8A517711-0167-26D0-74DD-3DA0D0B6DF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024" y="4361688"/>
            <a:ext cx="2381250" cy="2381250"/>
          </a:xfrm>
          <a:prstGeom prst="rect">
            <a:avLst/>
          </a:prstGeom>
          <a:ln>
            <a:solidFill>
              <a:srgbClr val="3A3B97"/>
            </a:solidFill>
          </a:ln>
        </p:spPr>
      </p:pic>
      <p:sp>
        <p:nvSpPr>
          <p:cNvPr id="10" name="Arrow: Bent 9">
            <a:extLst>
              <a:ext uri="{FF2B5EF4-FFF2-40B4-BE49-F238E27FC236}">
                <a16:creationId xmlns:a16="http://schemas.microsoft.com/office/drawing/2014/main" id="{413A83BC-414C-C86D-6A3D-C228BA151DE9}"/>
              </a:ext>
            </a:extLst>
          </p:cNvPr>
          <p:cNvSpPr/>
          <p:nvPr/>
        </p:nvSpPr>
        <p:spPr>
          <a:xfrm>
            <a:off x="7859268" y="4882896"/>
            <a:ext cx="1841754" cy="739820"/>
          </a:xfrm>
          <a:prstGeom prst="bentArrow">
            <a:avLst/>
          </a:prstGeom>
          <a:solidFill>
            <a:srgbClr val="3A3B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35D99F71-80B4-6F6E-0EC3-D8E703442B21}"/>
              </a:ext>
            </a:extLst>
          </p:cNvPr>
          <p:cNvSpPr txBox="1"/>
          <p:nvPr/>
        </p:nvSpPr>
        <p:spPr>
          <a:xfrm>
            <a:off x="6867231" y="5631761"/>
            <a:ext cx="2840649" cy="369332"/>
          </a:xfrm>
          <a:prstGeom prst="rect">
            <a:avLst/>
          </a:prstGeom>
          <a:noFill/>
          <a:ln>
            <a:solidFill>
              <a:srgbClr val="3A3B97"/>
            </a:solidFill>
          </a:ln>
        </p:spPr>
        <p:txBody>
          <a:bodyPr wrap="none" rtlCol="0">
            <a:spAutoFit/>
          </a:bodyPr>
          <a:lstStyle/>
          <a:p>
            <a:r>
              <a:rPr lang="en-US" dirty="0"/>
              <a:t>Find the IBM Dataset Here!</a:t>
            </a:r>
          </a:p>
        </p:txBody>
      </p:sp>
      <p:sp>
        <p:nvSpPr>
          <p:cNvPr id="12" name="Slide Number Placeholder 11">
            <a:extLst>
              <a:ext uri="{FF2B5EF4-FFF2-40B4-BE49-F238E27FC236}">
                <a16:creationId xmlns:a16="http://schemas.microsoft.com/office/drawing/2014/main" id="{33F3D593-E30B-0C27-05AE-504731C4FC4A}"/>
              </a:ext>
            </a:extLst>
          </p:cNvPr>
          <p:cNvSpPr>
            <a:spLocks noGrp="1"/>
          </p:cNvSpPr>
          <p:nvPr>
            <p:ph type="sldNum" sz="quarter" idx="12"/>
          </p:nvPr>
        </p:nvSpPr>
        <p:spPr/>
        <p:txBody>
          <a:bodyPr/>
          <a:lstStyle/>
          <a:p>
            <a:fld id="{EA816D0E-01D5-4C40-903D-C1C8B29B6D50}" type="slidenum">
              <a:rPr lang="en-US" smtClean="0"/>
              <a:t>7</a:t>
            </a:fld>
            <a:endParaRPr lang="en-US"/>
          </a:p>
        </p:txBody>
      </p:sp>
    </p:spTree>
    <p:extLst>
      <p:ext uri="{BB962C8B-B14F-4D97-AF65-F5344CB8AC3E}">
        <p14:creationId xmlns:p14="http://schemas.microsoft.com/office/powerpoint/2010/main" val="3736203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0515600" cy="1325563"/>
          </a:xfrm>
        </p:spPr>
        <p:txBody>
          <a:bodyPr/>
          <a:lstStyle/>
          <a:p>
            <a:r>
              <a:rPr lang="en-US" dirty="0"/>
              <a:t>Method #1 – Correlation Matrix/Heatmap</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pic>
        <p:nvPicPr>
          <p:cNvPr id="1026" name="Picture 2">
            <a:extLst>
              <a:ext uri="{FF2B5EF4-FFF2-40B4-BE49-F238E27FC236}">
                <a16:creationId xmlns:a16="http://schemas.microsoft.com/office/drawing/2014/main" id="{6E74ED5B-26D2-846B-F3DE-07225BE4AC0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248050" y="1430796"/>
            <a:ext cx="4943950" cy="4562701"/>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5084D682-AA2F-5483-F153-3F3CD345F1C4}"/>
              </a:ext>
            </a:extLst>
          </p:cNvPr>
          <p:cNvSpPr txBox="1">
            <a:spLocks/>
          </p:cNvSpPr>
          <p:nvPr/>
        </p:nvSpPr>
        <p:spPr>
          <a:xfrm>
            <a:off x="225552" y="1642159"/>
            <a:ext cx="682906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Correlation matrix/heatmap - python</a:t>
            </a:r>
          </a:p>
          <a:p>
            <a:pPr lvl="1"/>
            <a:r>
              <a:rPr lang="en-US" dirty="0"/>
              <a:t>Helps point out relationships to investigate</a:t>
            </a:r>
          </a:p>
          <a:p>
            <a:pPr lvl="2"/>
            <a:r>
              <a:rPr lang="en-US" dirty="0"/>
              <a:t>Not just for DV &gt; IV relationships but, say, “do the students that enroll with higher HS GPAs tend to be of a certain gender, race/ethnicity, town/county or rural/urban area? (RUCA Classification)”</a:t>
            </a:r>
          </a:p>
          <a:p>
            <a:pPr lvl="1"/>
            <a:r>
              <a:rPr lang="en-US" dirty="0"/>
              <a:t>Can be done in Excel as well, in a different manner</a:t>
            </a:r>
          </a:p>
          <a:p>
            <a:pPr lvl="1"/>
            <a:r>
              <a:rPr lang="en-US" dirty="0"/>
              <a:t>If tracking, say, retention over time data can be organized in different timeframes</a:t>
            </a:r>
          </a:p>
          <a:p>
            <a:pPr lvl="2"/>
            <a:r>
              <a:rPr lang="en-US" dirty="0"/>
              <a:t>Ex. 2015-2019, 2019-2023</a:t>
            </a:r>
          </a:p>
          <a:p>
            <a:pPr lvl="2"/>
            <a:r>
              <a:rPr lang="en-US" dirty="0"/>
              <a:t>This can be used to find single-year anomalies</a:t>
            </a:r>
          </a:p>
          <a:p>
            <a:pPr marL="914400" lvl="2" indent="0">
              <a:buNone/>
            </a:pPr>
            <a:endParaRPr lang="en-US" dirty="0"/>
          </a:p>
        </p:txBody>
      </p:sp>
      <p:sp>
        <p:nvSpPr>
          <p:cNvPr id="3" name="Slide Number Placeholder 2">
            <a:extLst>
              <a:ext uri="{FF2B5EF4-FFF2-40B4-BE49-F238E27FC236}">
                <a16:creationId xmlns:a16="http://schemas.microsoft.com/office/drawing/2014/main" id="{70107CE4-CFCD-7567-F4B6-8F59EBC64BCC}"/>
              </a:ext>
            </a:extLst>
          </p:cNvPr>
          <p:cNvSpPr>
            <a:spLocks noGrp="1"/>
          </p:cNvSpPr>
          <p:nvPr>
            <p:ph type="sldNum" sz="quarter" idx="12"/>
          </p:nvPr>
        </p:nvSpPr>
        <p:spPr/>
        <p:txBody>
          <a:bodyPr/>
          <a:lstStyle/>
          <a:p>
            <a:fld id="{EA816D0E-01D5-4C40-903D-C1C8B29B6D50}" type="slidenum">
              <a:rPr lang="en-US" smtClean="0"/>
              <a:t>8</a:t>
            </a:fld>
            <a:endParaRPr lang="en-US"/>
          </a:p>
        </p:txBody>
      </p:sp>
    </p:spTree>
    <p:extLst>
      <p:ext uri="{BB962C8B-B14F-4D97-AF65-F5344CB8AC3E}">
        <p14:creationId xmlns:p14="http://schemas.microsoft.com/office/powerpoint/2010/main" val="2942471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0515600" cy="1325563"/>
          </a:xfrm>
        </p:spPr>
        <p:txBody>
          <a:bodyPr/>
          <a:lstStyle/>
          <a:p>
            <a:r>
              <a:rPr lang="en-US" dirty="0"/>
              <a:t>Method #1 – Correlations on Specific IVs</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7" name="Content Placeholder 2">
            <a:extLst>
              <a:ext uri="{FF2B5EF4-FFF2-40B4-BE49-F238E27FC236}">
                <a16:creationId xmlns:a16="http://schemas.microsoft.com/office/drawing/2014/main" id="{5084D682-AA2F-5483-F153-3F3CD345F1C4}"/>
              </a:ext>
            </a:extLst>
          </p:cNvPr>
          <p:cNvSpPr txBox="1">
            <a:spLocks/>
          </p:cNvSpPr>
          <p:nvPr/>
        </p:nvSpPr>
        <p:spPr>
          <a:xfrm>
            <a:off x="225552" y="1724455"/>
            <a:ext cx="752856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Look directly at our performance variable</a:t>
            </a:r>
          </a:p>
          <a:p>
            <a:pPr lvl="1"/>
            <a:r>
              <a:rPr lang="en-US" dirty="0"/>
              <a:t>This helps reduce the clutter of the large all-encompassing matrix</a:t>
            </a:r>
          </a:p>
          <a:p>
            <a:pPr lvl="1"/>
            <a:r>
              <a:rPr lang="en-US" dirty="0"/>
              <a:t>Students can withdraw for many reasons, many of which cannot be measured. </a:t>
            </a:r>
          </a:p>
          <a:p>
            <a:pPr marL="914400" lvl="2" indent="0">
              <a:buNone/>
            </a:pPr>
            <a:endParaRPr lang="en-US" dirty="0"/>
          </a:p>
        </p:txBody>
      </p:sp>
      <p:pic>
        <p:nvPicPr>
          <p:cNvPr id="2050" name="Picture 2">
            <a:extLst>
              <a:ext uri="{FF2B5EF4-FFF2-40B4-BE49-F238E27FC236}">
                <a16:creationId xmlns:a16="http://schemas.microsoft.com/office/drawing/2014/main" id="{2851FBB3-FA9D-87F0-49F6-5FFCD5F76A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0541" y="1552282"/>
            <a:ext cx="3562359" cy="43513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qr code on a white background&#10;&#10;Description automatically generated">
            <a:extLst>
              <a:ext uri="{FF2B5EF4-FFF2-40B4-BE49-F238E27FC236}">
                <a16:creationId xmlns:a16="http://schemas.microsoft.com/office/drawing/2014/main" id="{D2BF17F5-9AB4-A84E-B1D9-2517DE435D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968" y="4355326"/>
            <a:ext cx="2381250" cy="2381250"/>
          </a:xfrm>
          <a:prstGeom prst="rect">
            <a:avLst/>
          </a:prstGeom>
          <a:ln>
            <a:solidFill>
              <a:srgbClr val="3A3B97"/>
            </a:solidFill>
          </a:ln>
        </p:spPr>
      </p:pic>
      <p:sp>
        <p:nvSpPr>
          <p:cNvPr id="8" name="Arrow: Bent 7">
            <a:extLst>
              <a:ext uri="{FF2B5EF4-FFF2-40B4-BE49-F238E27FC236}">
                <a16:creationId xmlns:a16="http://schemas.microsoft.com/office/drawing/2014/main" id="{F673352F-C8F4-FCDC-F573-56079C60CAEA}"/>
              </a:ext>
            </a:extLst>
          </p:cNvPr>
          <p:cNvSpPr/>
          <p:nvPr/>
        </p:nvSpPr>
        <p:spPr>
          <a:xfrm flipH="1">
            <a:off x="2515361" y="4837176"/>
            <a:ext cx="1630299" cy="797451"/>
          </a:xfrm>
          <a:prstGeom prst="bentArrow">
            <a:avLst/>
          </a:prstGeom>
          <a:solidFill>
            <a:srgbClr val="3A3B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6D6EEDD3-4FB8-B7D6-CC7E-464B2C239EA9}"/>
              </a:ext>
            </a:extLst>
          </p:cNvPr>
          <p:cNvSpPr txBox="1"/>
          <p:nvPr/>
        </p:nvSpPr>
        <p:spPr>
          <a:xfrm>
            <a:off x="2506218" y="5632002"/>
            <a:ext cx="3266856" cy="369332"/>
          </a:xfrm>
          <a:prstGeom prst="rect">
            <a:avLst/>
          </a:prstGeom>
          <a:noFill/>
          <a:ln>
            <a:solidFill>
              <a:srgbClr val="3A3B97"/>
            </a:solidFill>
          </a:ln>
        </p:spPr>
        <p:txBody>
          <a:bodyPr wrap="none" rtlCol="0">
            <a:spAutoFit/>
          </a:bodyPr>
          <a:lstStyle/>
          <a:p>
            <a:r>
              <a:rPr lang="en-US" dirty="0"/>
              <a:t>Find the python notebook here!</a:t>
            </a:r>
          </a:p>
        </p:txBody>
      </p:sp>
      <p:sp>
        <p:nvSpPr>
          <p:cNvPr id="10" name="Slide Number Placeholder 9">
            <a:extLst>
              <a:ext uri="{FF2B5EF4-FFF2-40B4-BE49-F238E27FC236}">
                <a16:creationId xmlns:a16="http://schemas.microsoft.com/office/drawing/2014/main" id="{7B54800E-BF49-8670-CEAF-E841DA50C661}"/>
              </a:ext>
            </a:extLst>
          </p:cNvPr>
          <p:cNvSpPr>
            <a:spLocks noGrp="1"/>
          </p:cNvSpPr>
          <p:nvPr>
            <p:ph type="sldNum" sz="quarter" idx="12"/>
          </p:nvPr>
        </p:nvSpPr>
        <p:spPr/>
        <p:txBody>
          <a:bodyPr/>
          <a:lstStyle/>
          <a:p>
            <a:fld id="{EA816D0E-01D5-4C40-903D-C1C8B29B6D50}" type="slidenum">
              <a:rPr lang="en-US" smtClean="0"/>
              <a:t>9</a:t>
            </a:fld>
            <a:endParaRPr lang="en-US"/>
          </a:p>
        </p:txBody>
      </p:sp>
    </p:spTree>
    <p:extLst>
      <p:ext uri="{BB962C8B-B14F-4D97-AF65-F5344CB8AC3E}">
        <p14:creationId xmlns:p14="http://schemas.microsoft.com/office/powerpoint/2010/main" val="1043884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B6E59-C3A3-2014-FCC4-90896095058C}"/>
            </a:ext>
          </a:extLst>
        </p:cNvPr>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F943D0ED-C598-FF41-821D-4D6A0E2FC5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2F421B9D-9D0F-65FC-D172-4BA596E921B1}"/>
              </a:ext>
            </a:extLst>
          </p:cNvPr>
          <p:cNvSpPr>
            <a:spLocks noGrp="1"/>
          </p:cNvSpPr>
          <p:nvPr>
            <p:ph type="title"/>
          </p:nvPr>
        </p:nvSpPr>
        <p:spPr>
          <a:xfrm>
            <a:off x="124968" y="-62765"/>
            <a:ext cx="10515600" cy="1325563"/>
          </a:xfrm>
        </p:spPr>
        <p:txBody>
          <a:bodyPr/>
          <a:lstStyle/>
          <a:p>
            <a:r>
              <a:rPr lang="en-US" dirty="0"/>
              <a:t>Handling Continuous Variables</a:t>
            </a:r>
          </a:p>
        </p:txBody>
      </p:sp>
      <p:sp>
        <p:nvSpPr>
          <p:cNvPr id="5" name="Rectangle 4">
            <a:extLst>
              <a:ext uri="{FF2B5EF4-FFF2-40B4-BE49-F238E27FC236}">
                <a16:creationId xmlns:a16="http://schemas.microsoft.com/office/drawing/2014/main" id="{67D7FC9D-B434-FA90-1C0D-A45F9869998B}"/>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7" name="Content Placeholder 2">
            <a:extLst>
              <a:ext uri="{FF2B5EF4-FFF2-40B4-BE49-F238E27FC236}">
                <a16:creationId xmlns:a16="http://schemas.microsoft.com/office/drawing/2014/main" id="{5FA8335B-581C-AF70-54BB-4BDB33EB8D0A}"/>
              </a:ext>
            </a:extLst>
          </p:cNvPr>
          <p:cNvSpPr txBox="1">
            <a:spLocks/>
          </p:cNvSpPr>
          <p:nvPr/>
        </p:nvSpPr>
        <p:spPr>
          <a:xfrm>
            <a:off x="225552" y="1724455"/>
            <a:ext cx="7528560" cy="42831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Correlations are linear relationships, which some continuous variables don’t match, so:</a:t>
            </a:r>
          </a:p>
          <a:p>
            <a:r>
              <a:rPr lang="en-US" dirty="0"/>
              <a:t>Break up Continuous variables into categories</a:t>
            </a:r>
          </a:p>
          <a:p>
            <a:pPr lvl="1"/>
            <a:r>
              <a:rPr lang="en-US" dirty="0"/>
              <a:t>HS GPA – 10/100-point bands, 5-point bands</a:t>
            </a:r>
          </a:p>
          <a:p>
            <a:pPr lvl="1"/>
            <a:r>
              <a:rPr lang="en-US" dirty="0"/>
              <a:t>Eventually might find a threshold (above or below a certain value – ex. 85/100 HS GPA or below)</a:t>
            </a:r>
          </a:p>
          <a:p>
            <a:r>
              <a:rPr lang="en-US" dirty="0"/>
              <a:t>Pre-College Transfer Credits</a:t>
            </a:r>
          </a:p>
          <a:p>
            <a:pPr lvl="1"/>
            <a:r>
              <a:rPr lang="en-US" dirty="0"/>
              <a:t>“College preparation” analogue</a:t>
            </a:r>
          </a:p>
          <a:p>
            <a:pPr lvl="1"/>
            <a:r>
              <a:rPr lang="en-US" dirty="0"/>
              <a:t>10-credit bands, 5-credit bands</a:t>
            </a:r>
          </a:p>
          <a:p>
            <a:pPr lvl="1"/>
            <a:r>
              <a:rPr lang="en-US" dirty="0"/>
              <a:t>Eventually might find a threshold (above or below 1 value)</a:t>
            </a:r>
          </a:p>
          <a:p>
            <a:pPr lvl="1"/>
            <a:endParaRPr lang="en-US" dirty="0"/>
          </a:p>
          <a:p>
            <a:pPr marL="914400" lvl="2" indent="0">
              <a:buNone/>
            </a:pPr>
            <a:endParaRPr lang="en-US" dirty="0"/>
          </a:p>
        </p:txBody>
      </p:sp>
      <p:sp>
        <p:nvSpPr>
          <p:cNvPr id="3" name="Slide Number Placeholder 2">
            <a:extLst>
              <a:ext uri="{FF2B5EF4-FFF2-40B4-BE49-F238E27FC236}">
                <a16:creationId xmlns:a16="http://schemas.microsoft.com/office/drawing/2014/main" id="{B52D41A9-BB27-CEC0-7A3B-F74A849298F0}"/>
              </a:ext>
            </a:extLst>
          </p:cNvPr>
          <p:cNvSpPr>
            <a:spLocks noGrp="1"/>
          </p:cNvSpPr>
          <p:nvPr>
            <p:ph type="sldNum" sz="quarter" idx="12"/>
          </p:nvPr>
        </p:nvSpPr>
        <p:spPr/>
        <p:txBody>
          <a:bodyPr/>
          <a:lstStyle/>
          <a:p>
            <a:fld id="{EA816D0E-01D5-4C40-903D-C1C8B29B6D50}" type="slidenum">
              <a:rPr lang="en-US" smtClean="0"/>
              <a:t>10</a:t>
            </a:fld>
            <a:endParaRPr lang="en-US"/>
          </a:p>
        </p:txBody>
      </p:sp>
      <p:pic>
        <p:nvPicPr>
          <p:cNvPr id="6" name="Picture 5">
            <a:extLst>
              <a:ext uri="{FF2B5EF4-FFF2-40B4-BE49-F238E27FC236}">
                <a16:creationId xmlns:a16="http://schemas.microsoft.com/office/drawing/2014/main" id="{D4AC4884-12D3-C321-F136-2B799D0D0263}"/>
              </a:ext>
            </a:extLst>
          </p:cNvPr>
          <p:cNvPicPr>
            <a:picLocks noChangeAspect="1" noChangeArrowheads="1"/>
            <a:extLst>
              <a:ext uri="{84589F7E-364E-4C9E-8A38-B11213B215E9}">
                <a14:cameraTool xmlns:a14="http://schemas.microsoft.com/office/drawing/2010/main" cellRange="$A$60:$D$76"/>
              </a:ext>
            </a:extLst>
          </p:cNvPicPr>
          <p:nvPr/>
        </p:nvPicPr>
        <p:blipFill>
          <a:blip r:embed="rId3"/>
          <a:srcRect/>
          <a:stretch>
            <a:fillRect/>
          </a:stretch>
        </p:blipFill>
        <p:spPr bwMode="auto">
          <a:xfrm>
            <a:off x="7979664" y="1424266"/>
            <a:ext cx="4086225" cy="3248025"/>
          </a:xfrm>
          <a:prstGeom prst="rect">
            <a:avLst/>
          </a:prstGeom>
          <a:solidFill>
            <a:srgbClr xmlns:mc="http://schemas.openxmlformats.org/markup-compatibility/2006" xmlns:a14="http://schemas.microsoft.com/office/drawing/2010/main" val="FFFFFF" mc:Ignorable="a14" a14:legacySpreadsheetColorIndex="9"/>
          </a:solidFill>
          <a:ln w="9525">
            <a:solidFill>
              <a:srgbClr xmlns:mc="http://schemas.openxmlformats.org/markup-compatibility/2006" xmlns:a14="http://schemas.microsoft.com/office/drawing/2010/main" val="000000" mc:Ignorable="a14" a14:legacySpreadsheetColorIndex="64"/>
            </a:solidFill>
            <a:miter lim="800000"/>
            <a:headEnd/>
            <a:tailEnd/>
          </a:ln>
        </p:spPr>
      </p:pic>
      <p:sp>
        <p:nvSpPr>
          <p:cNvPr id="8" name="TextBox 7">
            <a:extLst>
              <a:ext uri="{FF2B5EF4-FFF2-40B4-BE49-F238E27FC236}">
                <a16:creationId xmlns:a16="http://schemas.microsoft.com/office/drawing/2014/main" id="{396851C0-2D8A-DB51-F708-2D2E53A188B9}"/>
              </a:ext>
            </a:extLst>
          </p:cNvPr>
          <p:cNvSpPr txBox="1"/>
          <p:nvPr/>
        </p:nvSpPr>
        <p:spPr>
          <a:xfrm>
            <a:off x="8176641" y="4739785"/>
            <a:ext cx="3889248" cy="1200329"/>
          </a:xfrm>
          <a:prstGeom prst="rect">
            <a:avLst/>
          </a:prstGeom>
          <a:noFill/>
          <a:ln>
            <a:solidFill>
              <a:srgbClr val="3A3B97"/>
            </a:solidFill>
          </a:ln>
        </p:spPr>
        <p:txBody>
          <a:bodyPr wrap="square" rtlCol="0">
            <a:spAutoFit/>
          </a:bodyPr>
          <a:lstStyle/>
          <a:p>
            <a:r>
              <a:rPr lang="en-US" dirty="0"/>
              <a:t>This is why Hourly Rate doesn’t come out as linearly correlated. Can be shown as individual correlations using Excel or Python.</a:t>
            </a:r>
          </a:p>
        </p:txBody>
      </p:sp>
      <p:sp>
        <p:nvSpPr>
          <p:cNvPr id="9" name="Arrow: Curved Left 8">
            <a:extLst>
              <a:ext uri="{FF2B5EF4-FFF2-40B4-BE49-F238E27FC236}">
                <a16:creationId xmlns:a16="http://schemas.microsoft.com/office/drawing/2014/main" id="{87EB0A1E-66C9-A8EE-FB0A-1100257DC2DE}"/>
              </a:ext>
            </a:extLst>
          </p:cNvPr>
          <p:cNvSpPr/>
          <p:nvPr/>
        </p:nvSpPr>
        <p:spPr>
          <a:xfrm rot="10126423">
            <a:off x="7406640" y="4041648"/>
            <a:ext cx="640080" cy="1088136"/>
          </a:xfrm>
          <a:prstGeom prst="curvedLeftArrow">
            <a:avLst/>
          </a:prstGeom>
          <a:solidFill>
            <a:srgbClr val="3A3B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85553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0515600" cy="1325563"/>
          </a:xfrm>
        </p:spPr>
        <p:txBody>
          <a:bodyPr/>
          <a:lstStyle/>
          <a:p>
            <a:r>
              <a:rPr lang="en-US" dirty="0"/>
              <a:t>Method #1 - Issues?</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pic>
        <p:nvPicPr>
          <p:cNvPr id="6" name="Picture 5" descr="A table of a person's personality&#10;&#10;Description automatically generated with medium confidence">
            <a:extLst>
              <a:ext uri="{FF2B5EF4-FFF2-40B4-BE49-F238E27FC236}">
                <a16:creationId xmlns:a16="http://schemas.microsoft.com/office/drawing/2014/main" id="{E2716329-348B-ADFF-A6C4-0616F35779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4298" y="1453259"/>
            <a:ext cx="4782734" cy="2028167"/>
          </a:xfrm>
          <a:prstGeom prst="rect">
            <a:avLst/>
          </a:prstGeom>
        </p:spPr>
      </p:pic>
      <p:pic>
        <p:nvPicPr>
          <p:cNvPr id="9" name="Picture 8" descr="A screenshot of a computer screen&#10;&#10;Description automatically generated">
            <a:extLst>
              <a:ext uri="{FF2B5EF4-FFF2-40B4-BE49-F238E27FC236}">
                <a16:creationId xmlns:a16="http://schemas.microsoft.com/office/drawing/2014/main" id="{1F5D4F4C-7E73-DFC1-1D90-3FDBDA198A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9396" y="3481426"/>
            <a:ext cx="4511040" cy="2526182"/>
          </a:xfrm>
          <a:prstGeom prst="rect">
            <a:avLst/>
          </a:prstGeom>
        </p:spPr>
      </p:pic>
      <p:sp>
        <p:nvSpPr>
          <p:cNvPr id="10" name="Content Placeholder 2">
            <a:extLst>
              <a:ext uri="{FF2B5EF4-FFF2-40B4-BE49-F238E27FC236}">
                <a16:creationId xmlns:a16="http://schemas.microsoft.com/office/drawing/2014/main" id="{005E7B7E-615A-3BB3-76D7-11D15EF6756D}"/>
              </a:ext>
            </a:extLst>
          </p:cNvPr>
          <p:cNvSpPr txBox="1">
            <a:spLocks/>
          </p:cNvSpPr>
          <p:nvPr/>
        </p:nvSpPr>
        <p:spPr>
          <a:xfrm>
            <a:off x="225552" y="1642159"/>
            <a:ext cx="7058746"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But none of our correlations are strong!</a:t>
            </a:r>
          </a:p>
          <a:p>
            <a:pPr lvl="1"/>
            <a:r>
              <a:rPr lang="en-US" dirty="0"/>
              <a:t>These initial correlation coefficients will look as if there is only a weak relationship.</a:t>
            </a:r>
          </a:p>
          <a:p>
            <a:pPr lvl="1"/>
            <a:r>
              <a:rPr lang="en-US" dirty="0"/>
              <a:t>Different fields have different needs</a:t>
            </a:r>
          </a:p>
          <a:p>
            <a:pPr lvl="1"/>
            <a:r>
              <a:rPr lang="en-US" dirty="0"/>
              <a:t>Put many weak relationships together and you might find a strong relationship.</a:t>
            </a:r>
          </a:p>
          <a:p>
            <a:pPr lvl="1"/>
            <a:r>
              <a:rPr lang="en-US" dirty="0"/>
              <a:t>Reframe our scale (later)</a:t>
            </a:r>
          </a:p>
          <a:p>
            <a:pPr lvl="1"/>
            <a:r>
              <a:rPr lang="en-US" dirty="0"/>
              <a:t>This is where comparing the performance metrics directly helps</a:t>
            </a:r>
          </a:p>
          <a:p>
            <a:pPr lvl="2"/>
            <a:r>
              <a:rPr lang="en-US" dirty="0"/>
              <a:t>Retention by Pell and non-Pell, by First-Gen and non-First-Gen, by ranges of High School GPA, etc.</a:t>
            </a:r>
          </a:p>
          <a:p>
            <a:pPr lvl="2"/>
            <a:r>
              <a:rPr lang="en-US" dirty="0"/>
              <a:t>The gaps in retention rates between those subgroups are representations of that correlation</a:t>
            </a:r>
          </a:p>
          <a:p>
            <a:pPr marL="0" indent="0">
              <a:buNone/>
            </a:pPr>
            <a:endParaRPr lang="en-US" dirty="0"/>
          </a:p>
          <a:p>
            <a:pPr marL="914400" lvl="2" indent="0">
              <a:buNone/>
            </a:pPr>
            <a:endParaRPr lang="en-US" dirty="0"/>
          </a:p>
        </p:txBody>
      </p:sp>
      <p:sp>
        <p:nvSpPr>
          <p:cNvPr id="3" name="Slide Number Placeholder 2">
            <a:extLst>
              <a:ext uri="{FF2B5EF4-FFF2-40B4-BE49-F238E27FC236}">
                <a16:creationId xmlns:a16="http://schemas.microsoft.com/office/drawing/2014/main" id="{D063C69D-4882-E78F-4F71-E4349A11CDAB}"/>
              </a:ext>
            </a:extLst>
          </p:cNvPr>
          <p:cNvSpPr>
            <a:spLocks noGrp="1"/>
          </p:cNvSpPr>
          <p:nvPr>
            <p:ph type="sldNum" sz="quarter" idx="12"/>
          </p:nvPr>
        </p:nvSpPr>
        <p:spPr/>
        <p:txBody>
          <a:bodyPr/>
          <a:lstStyle/>
          <a:p>
            <a:fld id="{EA816D0E-01D5-4C40-903D-C1C8B29B6D50}" type="slidenum">
              <a:rPr lang="en-US" smtClean="0"/>
              <a:t>11</a:t>
            </a:fld>
            <a:endParaRPr lang="en-US"/>
          </a:p>
        </p:txBody>
      </p:sp>
    </p:spTree>
    <p:extLst>
      <p:ext uri="{BB962C8B-B14F-4D97-AF65-F5344CB8AC3E}">
        <p14:creationId xmlns:p14="http://schemas.microsoft.com/office/powerpoint/2010/main" val="633770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0515600" cy="1325563"/>
          </a:xfrm>
        </p:spPr>
        <p:txBody>
          <a:bodyPr/>
          <a:lstStyle/>
          <a:p>
            <a:r>
              <a:rPr lang="en-US" dirty="0"/>
              <a:t>So which students are “at risk”?</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10" name="Content Placeholder 2">
            <a:extLst>
              <a:ext uri="{FF2B5EF4-FFF2-40B4-BE49-F238E27FC236}">
                <a16:creationId xmlns:a16="http://schemas.microsoft.com/office/drawing/2014/main" id="{005E7B7E-615A-3BB3-76D7-11D15EF6756D}"/>
              </a:ext>
            </a:extLst>
          </p:cNvPr>
          <p:cNvSpPr txBox="1">
            <a:spLocks/>
          </p:cNvSpPr>
          <p:nvPr/>
        </p:nvSpPr>
        <p:spPr>
          <a:xfrm>
            <a:off x="225552" y="1642159"/>
            <a:ext cx="11734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Still, none of our correlations are “strong”!</a:t>
            </a:r>
          </a:p>
          <a:p>
            <a:pPr lvl="1"/>
            <a:r>
              <a:rPr lang="en-US" dirty="0"/>
              <a:t>Find what variables has the highest correlation factor to your success measure</a:t>
            </a:r>
          </a:p>
          <a:p>
            <a:pPr lvl="1"/>
            <a:r>
              <a:rPr lang="en-US" dirty="0"/>
              <a:t>Compare against the success measure data directly for those groups</a:t>
            </a:r>
          </a:p>
          <a:p>
            <a:pPr lvl="2"/>
            <a:r>
              <a:rPr lang="en-US" dirty="0"/>
              <a:t>You should see the highest correlation factors have the largest gaps between being “successful” and “not successful”</a:t>
            </a:r>
          </a:p>
          <a:p>
            <a:pPr lvl="1"/>
            <a:r>
              <a:rPr lang="en-US" dirty="0"/>
              <a:t>Reframe our correlation factors!</a:t>
            </a:r>
          </a:p>
          <a:p>
            <a:pPr lvl="2"/>
            <a:r>
              <a:rPr lang="en-US" dirty="0"/>
              <a:t>Say our strongest success measure gap measures a correlation factor of 0.2, reframe our correlation coefficients based on that and create a new scale</a:t>
            </a:r>
          </a:p>
          <a:p>
            <a:pPr lvl="2"/>
            <a:r>
              <a:rPr lang="en-US" dirty="0"/>
              <a:t>Correlation coefficients get smaller when the majority of variables’ values are one way or the other – So retention rates get weaker the better they get and the lower the gap between two independent variables - ex. Athlete vs non-athlete experiencing a ~30 point gap in ret. rates</a:t>
            </a:r>
          </a:p>
          <a:p>
            <a:pPr marL="0" indent="0">
              <a:buNone/>
            </a:pPr>
            <a:endParaRPr lang="en-US" dirty="0"/>
          </a:p>
          <a:p>
            <a:pPr marL="914400" lvl="2" indent="0">
              <a:buNone/>
            </a:pPr>
            <a:endParaRPr lang="en-US" dirty="0"/>
          </a:p>
        </p:txBody>
      </p:sp>
      <p:sp>
        <p:nvSpPr>
          <p:cNvPr id="3" name="Slide Number Placeholder 2">
            <a:extLst>
              <a:ext uri="{FF2B5EF4-FFF2-40B4-BE49-F238E27FC236}">
                <a16:creationId xmlns:a16="http://schemas.microsoft.com/office/drawing/2014/main" id="{A38E9D6C-6BE9-FF6F-5981-A03B482656C5}"/>
              </a:ext>
            </a:extLst>
          </p:cNvPr>
          <p:cNvSpPr>
            <a:spLocks noGrp="1"/>
          </p:cNvSpPr>
          <p:nvPr>
            <p:ph type="sldNum" sz="quarter" idx="12"/>
          </p:nvPr>
        </p:nvSpPr>
        <p:spPr/>
        <p:txBody>
          <a:bodyPr/>
          <a:lstStyle/>
          <a:p>
            <a:fld id="{EA816D0E-01D5-4C40-903D-C1C8B29B6D50}" type="slidenum">
              <a:rPr lang="en-US" smtClean="0"/>
              <a:t>12</a:t>
            </a:fld>
            <a:endParaRPr lang="en-US"/>
          </a:p>
        </p:txBody>
      </p:sp>
    </p:spTree>
    <p:extLst>
      <p:ext uri="{BB962C8B-B14F-4D97-AF65-F5344CB8AC3E}">
        <p14:creationId xmlns:p14="http://schemas.microsoft.com/office/powerpoint/2010/main" val="927194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0515600" cy="1325563"/>
          </a:xfrm>
        </p:spPr>
        <p:txBody>
          <a:bodyPr/>
          <a:lstStyle/>
          <a:p>
            <a:r>
              <a:rPr lang="en-US" dirty="0"/>
              <a:t>So which students are “at risk”?</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10" name="Content Placeholder 2">
            <a:extLst>
              <a:ext uri="{FF2B5EF4-FFF2-40B4-BE49-F238E27FC236}">
                <a16:creationId xmlns:a16="http://schemas.microsoft.com/office/drawing/2014/main" id="{005E7B7E-615A-3BB3-76D7-11D15EF6756D}"/>
              </a:ext>
            </a:extLst>
          </p:cNvPr>
          <p:cNvSpPr txBox="1">
            <a:spLocks/>
          </p:cNvSpPr>
          <p:nvPr/>
        </p:nvSpPr>
        <p:spPr>
          <a:xfrm>
            <a:off x="225552" y="1633015"/>
            <a:ext cx="7058746" cy="42831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Through trial and error we identified our cutoff for “impactful” correlation coefficients</a:t>
            </a:r>
          </a:p>
          <a:p>
            <a:pPr lvl="1"/>
            <a:r>
              <a:rPr lang="en-US" dirty="0"/>
              <a:t>0.05 coefficients seemed to have enough of a measurable impact on retention rates to consider as a “risk factor”</a:t>
            </a:r>
          </a:p>
          <a:p>
            <a:r>
              <a:rPr lang="en-US" dirty="0"/>
              <a:t>If not using correlations, compare the retention rates of students with different characteristics and look for the largest differences</a:t>
            </a:r>
          </a:p>
          <a:p>
            <a:pPr lvl="1"/>
            <a:r>
              <a:rPr lang="en-US" dirty="0"/>
              <a:t>So, Pell student retention % vs Non-Pell</a:t>
            </a:r>
          </a:p>
          <a:p>
            <a:pPr lvl="1"/>
            <a:r>
              <a:rPr lang="en-US" dirty="0"/>
              <a:t>Data Tables or Charts</a:t>
            </a:r>
          </a:p>
          <a:p>
            <a:pPr marL="914400" lvl="2" indent="0">
              <a:buNone/>
            </a:pPr>
            <a:endParaRPr lang="en-US" dirty="0"/>
          </a:p>
        </p:txBody>
      </p:sp>
      <p:sp>
        <p:nvSpPr>
          <p:cNvPr id="3" name="Slide Number Placeholder 2">
            <a:extLst>
              <a:ext uri="{FF2B5EF4-FFF2-40B4-BE49-F238E27FC236}">
                <a16:creationId xmlns:a16="http://schemas.microsoft.com/office/drawing/2014/main" id="{B3B5E39D-D903-3CC5-25C7-F5CF8255D1DA}"/>
              </a:ext>
            </a:extLst>
          </p:cNvPr>
          <p:cNvSpPr>
            <a:spLocks noGrp="1"/>
          </p:cNvSpPr>
          <p:nvPr>
            <p:ph type="sldNum" sz="quarter" idx="12"/>
          </p:nvPr>
        </p:nvSpPr>
        <p:spPr/>
        <p:txBody>
          <a:bodyPr/>
          <a:lstStyle/>
          <a:p>
            <a:fld id="{EA816D0E-01D5-4C40-903D-C1C8B29B6D50}" type="slidenum">
              <a:rPr lang="en-US" smtClean="0"/>
              <a:t>13</a:t>
            </a:fld>
            <a:endParaRPr lang="en-US"/>
          </a:p>
        </p:txBody>
      </p:sp>
      <p:pic>
        <p:nvPicPr>
          <p:cNvPr id="6" name="Picture 5">
            <a:extLst>
              <a:ext uri="{FF2B5EF4-FFF2-40B4-BE49-F238E27FC236}">
                <a16:creationId xmlns:a16="http://schemas.microsoft.com/office/drawing/2014/main" id="{8E1AC51A-8872-A075-3207-6A32DEEFB0AE}"/>
              </a:ext>
            </a:extLst>
          </p:cNvPr>
          <p:cNvPicPr>
            <a:picLocks noChangeAspect="1"/>
          </p:cNvPicPr>
          <p:nvPr/>
        </p:nvPicPr>
        <p:blipFill>
          <a:blip r:embed="rId3"/>
          <a:stretch>
            <a:fillRect/>
          </a:stretch>
        </p:blipFill>
        <p:spPr>
          <a:xfrm>
            <a:off x="7995960" y="1724455"/>
            <a:ext cx="3972479" cy="1162212"/>
          </a:xfrm>
          <a:prstGeom prst="rect">
            <a:avLst/>
          </a:prstGeom>
        </p:spPr>
      </p:pic>
      <p:sp>
        <p:nvSpPr>
          <p:cNvPr id="7" name="TextBox 6">
            <a:extLst>
              <a:ext uri="{FF2B5EF4-FFF2-40B4-BE49-F238E27FC236}">
                <a16:creationId xmlns:a16="http://schemas.microsoft.com/office/drawing/2014/main" id="{3AE083DA-9403-045A-B19E-3C81B55E9363}"/>
              </a:ext>
            </a:extLst>
          </p:cNvPr>
          <p:cNvSpPr txBox="1"/>
          <p:nvPr/>
        </p:nvSpPr>
        <p:spPr>
          <a:xfrm>
            <a:off x="7863241" y="2978107"/>
            <a:ext cx="4103207" cy="1200329"/>
          </a:xfrm>
          <a:prstGeom prst="rect">
            <a:avLst/>
          </a:prstGeom>
          <a:noFill/>
          <a:ln>
            <a:solidFill>
              <a:srgbClr val="3A3B97"/>
            </a:solidFill>
          </a:ln>
        </p:spPr>
        <p:txBody>
          <a:bodyPr wrap="square" rtlCol="0">
            <a:spAutoFit/>
          </a:bodyPr>
          <a:lstStyle/>
          <a:p>
            <a:r>
              <a:rPr lang="en-US" dirty="0">
                <a:sym typeface="Wingdings" panose="05000000000000000000" pitchFamily="2" charset="2"/>
              </a:rPr>
              <a:t>Our final ranking methodology got us to maximum 0.32, but a swing of 40% in terms of retention rate for groups of students is significant.</a:t>
            </a:r>
          </a:p>
        </p:txBody>
      </p:sp>
      <p:sp>
        <p:nvSpPr>
          <p:cNvPr id="8" name="Arrow: Curved Right 7">
            <a:extLst>
              <a:ext uri="{FF2B5EF4-FFF2-40B4-BE49-F238E27FC236}">
                <a16:creationId xmlns:a16="http://schemas.microsoft.com/office/drawing/2014/main" id="{135189EE-BE04-BE40-AA4E-27339A216117}"/>
              </a:ext>
            </a:extLst>
          </p:cNvPr>
          <p:cNvSpPr/>
          <p:nvPr/>
        </p:nvSpPr>
        <p:spPr>
          <a:xfrm rot="344357">
            <a:off x="7455453" y="2327846"/>
            <a:ext cx="493776" cy="959345"/>
          </a:xfrm>
          <a:prstGeom prst="curvedRightArrow">
            <a:avLst/>
          </a:prstGeom>
          <a:solidFill>
            <a:srgbClr val="3A3B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31277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1945112" cy="1325563"/>
          </a:xfrm>
        </p:spPr>
        <p:txBody>
          <a:bodyPr/>
          <a:lstStyle/>
          <a:p>
            <a:r>
              <a:rPr lang="en-US" dirty="0"/>
              <a:t>Method #2 – Examining Charts, or examining further</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10" name="Content Placeholder 2">
            <a:extLst>
              <a:ext uri="{FF2B5EF4-FFF2-40B4-BE49-F238E27FC236}">
                <a16:creationId xmlns:a16="http://schemas.microsoft.com/office/drawing/2014/main" id="{005E7B7E-615A-3BB3-76D7-11D15EF6756D}"/>
              </a:ext>
            </a:extLst>
          </p:cNvPr>
          <p:cNvSpPr txBox="1">
            <a:spLocks/>
          </p:cNvSpPr>
          <p:nvPr/>
        </p:nvSpPr>
        <p:spPr>
          <a:xfrm>
            <a:off x="225552" y="1724455"/>
            <a:ext cx="7711440" cy="42831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Now that we’ve identified which student characteristics that we want to examine, we can look into them further</a:t>
            </a:r>
          </a:p>
          <a:p>
            <a:pPr lvl="1"/>
            <a:r>
              <a:rPr lang="en-US" dirty="0"/>
              <a:t>Assume the following common examples:</a:t>
            </a:r>
          </a:p>
          <a:p>
            <a:pPr lvl="2"/>
            <a:r>
              <a:rPr lang="en-US" dirty="0"/>
              <a:t>We have less Pell students than non-Pell students</a:t>
            </a:r>
          </a:p>
          <a:p>
            <a:pPr lvl="2"/>
            <a:r>
              <a:rPr lang="en-US" dirty="0"/>
              <a:t>Our Pell students are retained at a much lower rate</a:t>
            </a:r>
          </a:p>
          <a:p>
            <a:pPr lvl="1"/>
            <a:r>
              <a:rPr lang="en-US" dirty="0"/>
              <a:t>Make sure to compare our students to both the average and the opposite subgroup</a:t>
            </a:r>
          </a:p>
          <a:p>
            <a:pPr marL="0" indent="0">
              <a:buNone/>
            </a:pPr>
            <a:endParaRPr lang="en-US" dirty="0"/>
          </a:p>
          <a:p>
            <a:pPr marL="914400" lvl="2" indent="0">
              <a:buNone/>
            </a:pPr>
            <a:endParaRPr lang="en-US" dirty="0"/>
          </a:p>
        </p:txBody>
      </p:sp>
      <p:pic>
        <p:nvPicPr>
          <p:cNvPr id="11" name="Picture 10" descr="A graph with blue and orange bars&#10;&#10;Description automatically generated">
            <a:extLst>
              <a:ext uri="{FF2B5EF4-FFF2-40B4-BE49-F238E27FC236}">
                <a16:creationId xmlns:a16="http://schemas.microsoft.com/office/drawing/2014/main" id="{18B5E473-781D-1580-F5A2-20ADEFB9E6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9949" y="1416684"/>
            <a:ext cx="4082051" cy="2312308"/>
          </a:xfrm>
          <a:prstGeom prst="rect">
            <a:avLst/>
          </a:prstGeom>
        </p:spPr>
      </p:pic>
      <p:pic>
        <p:nvPicPr>
          <p:cNvPr id="13" name="Picture 12" descr="A graph of a number of bars&#10;&#10;Description automatically generated with medium confidence">
            <a:extLst>
              <a:ext uri="{FF2B5EF4-FFF2-40B4-BE49-F238E27FC236}">
                <a16:creationId xmlns:a16="http://schemas.microsoft.com/office/drawing/2014/main" id="{CCD670DB-B41E-B994-710E-161D0BBD77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9948" y="3695300"/>
            <a:ext cx="4082051" cy="2312308"/>
          </a:xfrm>
          <a:prstGeom prst="rect">
            <a:avLst/>
          </a:prstGeom>
        </p:spPr>
      </p:pic>
      <p:sp>
        <p:nvSpPr>
          <p:cNvPr id="3" name="Slide Number Placeholder 2">
            <a:extLst>
              <a:ext uri="{FF2B5EF4-FFF2-40B4-BE49-F238E27FC236}">
                <a16:creationId xmlns:a16="http://schemas.microsoft.com/office/drawing/2014/main" id="{46667E35-F991-7B20-3714-C79E7ED57B03}"/>
              </a:ext>
            </a:extLst>
          </p:cNvPr>
          <p:cNvSpPr>
            <a:spLocks noGrp="1"/>
          </p:cNvSpPr>
          <p:nvPr>
            <p:ph type="sldNum" sz="quarter" idx="12"/>
          </p:nvPr>
        </p:nvSpPr>
        <p:spPr/>
        <p:txBody>
          <a:bodyPr/>
          <a:lstStyle/>
          <a:p>
            <a:fld id="{EA816D0E-01D5-4C40-903D-C1C8B29B6D50}" type="slidenum">
              <a:rPr lang="en-US" smtClean="0"/>
              <a:t>14</a:t>
            </a:fld>
            <a:endParaRPr lang="en-US"/>
          </a:p>
        </p:txBody>
      </p:sp>
    </p:spTree>
    <p:extLst>
      <p:ext uri="{BB962C8B-B14F-4D97-AF65-F5344CB8AC3E}">
        <p14:creationId xmlns:p14="http://schemas.microsoft.com/office/powerpoint/2010/main" val="3884374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0515600" cy="1325563"/>
          </a:xfrm>
        </p:spPr>
        <p:txBody>
          <a:bodyPr/>
          <a:lstStyle/>
          <a:p>
            <a:r>
              <a:rPr lang="en-US" dirty="0"/>
              <a:t>Method #2 – Examining Charts</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10" name="Content Placeholder 2">
            <a:extLst>
              <a:ext uri="{FF2B5EF4-FFF2-40B4-BE49-F238E27FC236}">
                <a16:creationId xmlns:a16="http://schemas.microsoft.com/office/drawing/2014/main" id="{005E7B7E-615A-3BB3-76D7-11D15EF6756D}"/>
              </a:ext>
            </a:extLst>
          </p:cNvPr>
          <p:cNvSpPr txBox="1">
            <a:spLocks/>
          </p:cNvSpPr>
          <p:nvPr/>
        </p:nvSpPr>
        <p:spPr>
          <a:xfrm>
            <a:off x="225552" y="1724455"/>
            <a:ext cx="705874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buNone/>
            </a:pPr>
            <a:endParaRPr lang="en-US" dirty="0"/>
          </a:p>
        </p:txBody>
      </p:sp>
      <p:pic>
        <p:nvPicPr>
          <p:cNvPr id="6" name="Picture 5" descr="A graph with blue and orange bars&#10;&#10;Description automatically generated">
            <a:extLst>
              <a:ext uri="{FF2B5EF4-FFF2-40B4-BE49-F238E27FC236}">
                <a16:creationId xmlns:a16="http://schemas.microsoft.com/office/drawing/2014/main" id="{C05CB62C-5D9B-DFBD-29A7-0CDE5C4446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2759" y="1334084"/>
            <a:ext cx="4284842" cy="2373981"/>
          </a:xfrm>
          <a:prstGeom prst="rect">
            <a:avLst/>
          </a:prstGeom>
        </p:spPr>
      </p:pic>
      <p:pic>
        <p:nvPicPr>
          <p:cNvPr id="8" name="Picture 7" descr="A graph of a number of people with their age&#10;&#10;Description automatically generated with medium confidence">
            <a:extLst>
              <a:ext uri="{FF2B5EF4-FFF2-40B4-BE49-F238E27FC236}">
                <a16:creationId xmlns:a16="http://schemas.microsoft.com/office/drawing/2014/main" id="{A6F66011-05C6-C920-2132-0A853663F1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12760" y="3684394"/>
            <a:ext cx="4279239" cy="2368934"/>
          </a:xfrm>
          <a:prstGeom prst="rect">
            <a:avLst/>
          </a:prstGeom>
        </p:spPr>
      </p:pic>
      <p:sp>
        <p:nvSpPr>
          <p:cNvPr id="9" name="Content Placeholder 2">
            <a:extLst>
              <a:ext uri="{FF2B5EF4-FFF2-40B4-BE49-F238E27FC236}">
                <a16:creationId xmlns:a16="http://schemas.microsoft.com/office/drawing/2014/main" id="{340E6E3F-F2C8-9FCA-E79D-F948669D7B2B}"/>
              </a:ext>
            </a:extLst>
          </p:cNvPr>
          <p:cNvSpPr txBox="1">
            <a:spLocks/>
          </p:cNvSpPr>
          <p:nvPr/>
        </p:nvSpPr>
        <p:spPr>
          <a:xfrm>
            <a:off x="225552" y="1651303"/>
            <a:ext cx="771144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Generally, athletes in higher ed have higher retention rates, let’s look there in reference to Pell status.</a:t>
            </a:r>
          </a:p>
          <a:p>
            <a:pPr lvl="1"/>
            <a:r>
              <a:rPr lang="en-US" dirty="0"/>
              <a:t>Let’s say our Athletes don’t experience much of a difference when comparing their Pell recipient statuses</a:t>
            </a:r>
          </a:p>
          <a:p>
            <a:pPr lvl="1"/>
            <a:r>
              <a:rPr lang="en-US" dirty="0"/>
              <a:t>But our non-athletes show a great difference. </a:t>
            </a:r>
          </a:p>
          <a:p>
            <a:pPr lvl="2"/>
            <a:r>
              <a:rPr lang="en-US" dirty="0"/>
              <a:t>Later we determined our athletes would not receive the intervention, but we worked with the athletics department so they knew those particular athletes who might need extra attention</a:t>
            </a:r>
          </a:p>
          <a:p>
            <a:pPr marL="0" indent="0">
              <a:buNone/>
            </a:pPr>
            <a:endParaRPr lang="en-US" dirty="0"/>
          </a:p>
          <a:p>
            <a:pPr marL="914400" lvl="2" indent="0">
              <a:buNone/>
            </a:pPr>
            <a:endParaRPr lang="en-US" dirty="0"/>
          </a:p>
        </p:txBody>
      </p:sp>
      <p:sp>
        <p:nvSpPr>
          <p:cNvPr id="3" name="Slide Number Placeholder 2">
            <a:extLst>
              <a:ext uri="{FF2B5EF4-FFF2-40B4-BE49-F238E27FC236}">
                <a16:creationId xmlns:a16="http://schemas.microsoft.com/office/drawing/2014/main" id="{1A4C0F4C-55E6-329B-16E8-8444EB09484A}"/>
              </a:ext>
            </a:extLst>
          </p:cNvPr>
          <p:cNvSpPr>
            <a:spLocks noGrp="1"/>
          </p:cNvSpPr>
          <p:nvPr>
            <p:ph type="sldNum" sz="quarter" idx="12"/>
          </p:nvPr>
        </p:nvSpPr>
        <p:spPr/>
        <p:txBody>
          <a:bodyPr/>
          <a:lstStyle/>
          <a:p>
            <a:fld id="{EA816D0E-01D5-4C40-903D-C1C8B29B6D50}" type="slidenum">
              <a:rPr lang="en-US" smtClean="0"/>
              <a:t>15</a:t>
            </a:fld>
            <a:endParaRPr lang="en-US" dirty="0"/>
          </a:p>
        </p:txBody>
      </p:sp>
      <p:sp>
        <p:nvSpPr>
          <p:cNvPr id="7" name="TextBox 6">
            <a:extLst>
              <a:ext uri="{FF2B5EF4-FFF2-40B4-BE49-F238E27FC236}">
                <a16:creationId xmlns:a16="http://schemas.microsoft.com/office/drawing/2014/main" id="{6CBF31E3-77BC-984E-BFB2-7B39F0253E4B}"/>
              </a:ext>
            </a:extLst>
          </p:cNvPr>
          <p:cNvSpPr txBox="1"/>
          <p:nvPr/>
        </p:nvSpPr>
        <p:spPr>
          <a:xfrm>
            <a:off x="4315576" y="5545951"/>
            <a:ext cx="3560847" cy="369332"/>
          </a:xfrm>
          <a:prstGeom prst="rect">
            <a:avLst/>
          </a:prstGeom>
          <a:noFill/>
          <a:ln>
            <a:solidFill>
              <a:srgbClr val="3A3B97"/>
            </a:solidFill>
          </a:ln>
        </p:spPr>
        <p:txBody>
          <a:bodyPr wrap="none" rtlCol="0">
            <a:spAutoFit/>
          </a:bodyPr>
          <a:lstStyle/>
          <a:p>
            <a:r>
              <a:rPr lang="en-US" dirty="0"/>
              <a:t>*See Appendix for chart setup tips</a:t>
            </a:r>
          </a:p>
        </p:txBody>
      </p:sp>
    </p:spTree>
    <p:extLst>
      <p:ext uri="{BB962C8B-B14F-4D97-AF65-F5344CB8AC3E}">
        <p14:creationId xmlns:p14="http://schemas.microsoft.com/office/powerpoint/2010/main" val="718194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C21AD-251D-15E3-997F-8E1F742126B9}"/>
            </a:ext>
          </a:extLst>
        </p:cNvPr>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8C4FEAF7-6C8A-854F-79A2-E585C9FAA1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6F6F3EAC-C8BC-3B6E-625F-4477C53AFB15}"/>
              </a:ext>
            </a:extLst>
          </p:cNvPr>
          <p:cNvSpPr>
            <a:spLocks noGrp="1"/>
          </p:cNvSpPr>
          <p:nvPr>
            <p:ph type="title"/>
          </p:nvPr>
        </p:nvSpPr>
        <p:spPr>
          <a:xfrm>
            <a:off x="124968" y="-62765"/>
            <a:ext cx="10515600" cy="1325563"/>
          </a:xfrm>
        </p:spPr>
        <p:txBody>
          <a:bodyPr/>
          <a:lstStyle/>
          <a:p>
            <a:r>
              <a:rPr lang="en-US" dirty="0"/>
              <a:t>Method #3 – Comparing Table Data</a:t>
            </a:r>
          </a:p>
        </p:txBody>
      </p:sp>
      <p:sp>
        <p:nvSpPr>
          <p:cNvPr id="5" name="Rectangle 4">
            <a:extLst>
              <a:ext uri="{FF2B5EF4-FFF2-40B4-BE49-F238E27FC236}">
                <a16:creationId xmlns:a16="http://schemas.microsoft.com/office/drawing/2014/main" id="{490DE0D7-55F7-91B8-E110-4CDD2D4E2E31}"/>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10" name="Content Placeholder 2">
            <a:extLst>
              <a:ext uri="{FF2B5EF4-FFF2-40B4-BE49-F238E27FC236}">
                <a16:creationId xmlns:a16="http://schemas.microsoft.com/office/drawing/2014/main" id="{ED992D65-E72A-C29F-B080-F4718FF1864A}"/>
              </a:ext>
            </a:extLst>
          </p:cNvPr>
          <p:cNvSpPr txBox="1">
            <a:spLocks/>
          </p:cNvSpPr>
          <p:nvPr/>
        </p:nvSpPr>
        <p:spPr>
          <a:xfrm>
            <a:off x="225552" y="1724455"/>
            <a:ext cx="705874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buNone/>
            </a:pPr>
            <a:endParaRPr lang="en-US" dirty="0"/>
          </a:p>
        </p:txBody>
      </p:sp>
      <p:sp>
        <p:nvSpPr>
          <p:cNvPr id="9" name="Content Placeholder 2">
            <a:extLst>
              <a:ext uri="{FF2B5EF4-FFF2-40B4-BE49-F238E27FC236}">
                <a16:creationId xmlns:a16="http://schemas.microsoft.com/office/drawing/2014/main" id="{5CC62BEF-C22F-4ACA-5D27-51AB2334ECFE}"/>
              </a:ext>
            </a:extLst>
          </p:cNvPr>
          <p:cNvSpPr txBox="1">
            <a:spLocks/>
          </p:cNvSpPr>
          <p:nvPr/>
        </p:nvSpPr>
        <p:spPr>
          <a:xfrm>
            <a:off x="225552" y="1416684"/>
            <a:ext cx="7299198" cy="458595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Use Excel to do the math</a:t>
            </a:r>
          </a:p>
          <a:p>
            <a:pPr lvl="1"/>
            <a:r>
              <a:rPr lang="en-US" dirty="0"/>
              <a:t>Pivot Tables!</a:t>
            </a:r>
          </a:p>
          <a:p>
            <a:pPr lvl="1"/>
            <a:r>
              <a:rPr lang="en-US" dirty="0"/>
              <a:t>Or even just knowing your total and sub-total, then sorting and counting</a:t>
            </a:r>
          </a:p>
          <a:p>
            <a:r>
              <a:rPr lang="en-US" dirty="0"/>
              <a:t>SQL</a:t>
            </a:r>
          </a:p>
          <a:p>
            <a:pPr lvl="1"/>
            <a:r>
              <a:rPr lang="en-US" dirty="0"/>
              <a:t>SQL is funny, but is more familiar to me</a:t>
            </a:r>
          </a:p>
          <a:p>
            <a:pPr lvl="1"/>
            <a:r>
              <a:rPr lang="en-US" dirty="0"/>
              <a:t>I can add to a table of combined cohort files every year, then easily have SQL do my math for me each year for as many variables as I want to analyze</a:t>
            </a:r>
          </a:p>
          <a:p>
            <a:pPr lvl="1"/>
            <a:r>
              <a:rPr lang="en-US" dirty="0"/>
              <a:t>*See appendix for example SQL query for calculations</a:t>
            </a:r>
          </a:p>
          <a:p>
            <a:r>
              <a:rPr lang="en-US" dirty="0"/>
              <a:t>Correlations are just “a mutual relationship or connection between two or more things”, so look through the data yourself and find the largest gaps between subgroupings</a:t>
            </a:r>
          </a:p>
          <a:p>
            <a:pPr lvl="1"/>
            <a:r>
              <a:rPr lang="en-US" dirty="0"/>
              <a:t>Pell vs Non-Pell, Athletes vs Non-Athletes, etc.</a:t>
            </a:r>
          </a:p>
          <a:p>
            <a:pPr marL="914400" lvl="2" indent="0">
              <a:buNone/>
            </a:pPr>
            <a:endParaRPr lang="en-US" dirty="0"/>
          </a:p>
        </p:txBody>
      </p:sp>
      <p:sp>
        <p:nvSpPr>
          <p:cNvPr id="3" name="Slide Number Placeholder 2">
            <a:extLst>
              <a:ext uri="{FF2B5EF4-FFF2-40B4-BE49-F238E27FC236}">
                <a16:creationId xmlns:a16="http://schemas.microsoft.com/office/drawing/2014/main" id="{0697D353-B09F-01CA-DFFD-B2FBEDEDBA12}"/>
              </a:ext>
            </a:extLst>
          </p:cNvPr>
          <p:cNvSpPr>
            <a:spLocks noGrp="1"/>
          </p:cNvSpPr>
          <p:nvPr>
            <p:ph type="sldNum" sz="quarter" idx="12"/>
          </p:nvPr>
        </p:nvSpPr>
        <p:spPr/>
        <p:txBody>
          <a:bodyPr/>
          <a:lstStyle/>
          <a:p>
            <a:fld id="{EA816D0E-01D5-4C40-903D-C1C8B29B6D50}" type="slidenum">
              <a:rPr lang="en-US" smtClean="0"/>
              <a:t>16</a:t>
            </a:fld>
            <a:endParaRPr lang="en-US"/>
          </a:p>
        </p:txBody>
      </p:sp>
      <p:sp>
        <p:nvSpPr>
          <p:cNvPr id="12" name="TextBox 11">
            <a:extLst>
              <a:ext uri="{FF2B5EF4-FFF2-40B4-BE49-F238E27FC236}">
                <a16:creationId xmlns:a16="http://schemas.microsoft.com/office/drawing/2014/main" id="{33A95705-C62D-79CA-4E0F-1765E0173ED4}"/>
              </a:ext>
            </a:extLst>
          </p:cNvPr>
          <p:cNvSpPr txBox="1"/>
          <p:nvPr/>
        </p:nvSpPr>
        <p:spPr>
          <a:xfrm>
            <a:off x="7658181" y="3424637"/>
            <a:ext cx="3695619" cy="1477328"/>
          </a:xfrm>
          <a:prstGeom prst="rect">
            <a:avLst/>
          </a:prstGeom>
          <a:noFill/>
          <a:ln>
            <a:solidFill>
              <a:srgbClr val="3A3B97"/>
            </a:solidFill>
          </a:ln>
        </p:spPr>
        <p:txBody>
          <a:bodyPr wrap="square" rtlCol="0">
            <a:spAutoFit/>
          </a:bodyPr>
          <a:lstStyle/>
          <a:p>
            <a:r>
              <a:rPr lang="en-US" dirty="0"/>
              <a:t>Find disparities (Athletes 90% avg., non-athletes 60% avg.) then rank by the disparities, you now know which student characteristics have the highest correlation</a:t>
            </a:r>
          </a:p>
        </p:txBody>
      </p:sp>
      <p:pic>
        <p:nvPicPr>
          <p:cNvPr id="13" name="Picture 12">
            <a:extLst>
              <a:ext uri="{FF2B5EF4-FFF2-40B4-BE49-F238E27FC236}">
                <a16:creationId xmlns:a16="http://schemas.microsoft.com/office/drawing/2014/main" id="{5E2356F1-481F-A46A-2EC4-2C9775A21575}"/>
              </a:ext>
            </a:extLst>
          </p:cNvPr>
          <p:cNvPicPr>
            <a:picLocks noChangeAspect="1" noChangeArrowheads="1"/>
            <a:extLst>
              <a:ext uri="{84589F7E-364E-4C9E-8A38-B11213B215E9}">
                <a14:cameraTool xmlns:a14="http://schemas.microsoft.com/office/drawing/2010/main" cellRange="$A$1:$I$9"/>
              </a:ext>
            </a:extLst>
          </p:cNvPicPr>
          <p:nvPr/>
        </p:nvPicPr>
        <p:blipFill>
          <a:blip r:embed="rId3"/>
          <a:srcRect/>
          <a:stretch>
            <a:fillRect/>
          </a:stretch>
        </p:blipFill>
        <p:spPr bwMode="auto">
          <a:xfrm>
            <a:off x="7524750" y="1421651"/>
            <a:ext cx="4667250" cy="1724025"/>
          </a:xfrm>
          <a:prstGeom prst="rect">
            <a:avLst/>
          </a:prstGeom>
          <a:solidFill>
            <a:srgbClr xmlns:mc="http://schemas.openxmlformats.org/markup-compatibility/2006" xmlns:a14="http://schemas.microsoft.com/office/drawing/2010/main" val="FFFFFF" mc:Ignorable="a14" a14:legacySpreadsheetColorIndex="9"/>
          </a:solidFill>
          <a:ln w="9525">
            <a:solidFill>
              <a:srgbClr xmlns:mc="http://schemas.openxmlformats.org/markup-compatibility/2006" xmlns:a14="http://schemas.microsoft.com/office/drawing/2010/main" val="000000" mc:Ignorable="a14" a14:legacySpreadsheetColorIndex="64"/>
            </a:solidFill>
            <a:miter lim="800000"/>
            <a:headEnd/>
            <a:tailEnd/>
          </a:ln>
        </p:spPr>
      </p:pic>
      <p:sp>
        <p:nvSpPr>
          <p:cNvPr id="15" name="Arrow: Curved Right 14">
            <a:extLst>
              <a:ext uri="{FF2B5EF4-FFF2-40B4-BE49-F238E27FC236}">
                <a16:creationId xmlns:a16="http://schemas.microsoft.com/office/drawing/2014/main" id="{7EDE8E6F-721D-A62B-E295-C175A581EFCA}"/>
              </a:ext>
            </a:extLst>
          </p:cNvPr>
          <p:cNvSpPr/>
          <p:nvPr/>
        </p:nvSpPr>
        <p:spPr>
          <a:xfrm rot="13059403">
            <a:off x="11595416" y="3153047"/>
            <a:ext cx="493776" cy="959345"/>
          </a:xfrm>
          <a:prstGeom prst="curvedRightArrow">
            <a:avLst/>
          </a:prstGeom>
          <a:solidFill>
            <a:srgbClr val="3A3B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29092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0515600" cy="1325563"/>
          </a:xfrm>
        </p:spPr>
        <p:txBody>
          <a:bodyPr/>
          <a:lstStyle/>
          <a:p>
            <a:r>
              <a:rPr lang="en-US" dirty="0"/>
              <a:t>Ranking our students</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10" name="Content Placeholder 2">
            <a:extLst>
              <a:ext uri="{FF2B5EF4-FFF2-40B4-BE49-F238E27FC236}">
                <a16:creationId xmlns:a16="http://schemas.microsoft.com/office/drawing/2014/main" id="{005E7B7E-615A-3BB3-76D7-11D15EF6756D}"/>
              </a:ext>
            </a:extLst>
          </p:cNvPr>
          <p:cNvSpPr txBox="1">
            <a:spLocks/>
          </p:cNvSpPr>
          <p:nvPr/>
        </p:nvSpPr>
        <p:spPr>
          <a:xfrm>
            <a:off x="225552" y="1706167"/>
            <a:ext cx="7058746" cy="428315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Two methods</a:t>
            </a:r>
          </a:p>
          <a:p>
            <a:pPr marL="914400" lvl="1" indent="-457200">
              <a:buFont typeface="+mj-lt"/>
              <a:buAutoNum type="arabicPeriod"/>
            </a:pPr>
            <a:r>
              <a:rPr lang="en-US" dirty="0"/>
              <a:t>Create a hierarchy of risk factors, assign risk rankings to each student based on their combination of “risky” characteristics</a:t>
            </a:r>
          </a:p>
          <a:p>
            <a:pPr lvl="2"/>
            <a:r>
              <a:rPr lang="en-US" dirty="0"/>
              <a:t>We had ~15 risk ranks</a:t>
            </a:r>
          </a:p>
          <a:p>
            <a:pPr marL="914400" lvl="1" indent="-457200">
              <a:buFont typeface="+mj-lt"/>
              <a:buAutoNum type="arabicPeriod"/>
            </a:pPr>
            <a:r>
              <a:rPr lang="en-US" dirty="0"/>
              <a:t>Count each students’ “risky” characteristics</a:t>
            </a:r>
          </a:p>
          <a:p>
            <a:pPr lvl="2"/>
            <a:r>
              <a:rPr lang="en-US" dirty="0"/>
              <a:t>This doesn’t weigh any particular characteristics as more or less “risky”, but is much easier to perform</a:t>
            </a:r>
          </a:p>
          <a:p>
            <a:pPr lvl="2"/>
            <a:r>
              <a:rPr lang="en-US" dirty="0"/>
              <a:t>We had 9 ranks</a:t>
            </a:r>
          </a:p>
          <a:p>
            <a:r>
              <a:rPr lang="en-US" dirty="0"/>
              <a:t>We verified each method and found them both fairly accurate</a:t>
            </a:r>
          </a:p>
          <a:p>
            <a:pPr lvl="1"/>
            <a:r>
              <a:rPr lang="en-US" dirty="0"/>
              <a:t>Who we classified as “more at risk” had a lower retention rate, and vice versa</a:t>
            </a:r>
          </a:p>
          <a:p>
            <a:pPr lvl="1"/>
            <a:r>
              <a:rPr lang="en-US" dirty="0"/>
              <a:t>The first year, before we could measure our first impacted cohorts, we retroactively assigned risk ranks to the previous cohort and those student groups tracked the same. Methodology verified!</a:t>
            </a:r>
          </a:p>
          <a:p>
            <a:pPr marL="0" indent="0">
              <a:buNone/>
            </a:pPr>
            <a:endParaRPr lang="en-US" dirty="0"/>
          </a:p>
          <a:p>
            <a:pPr marL="914400" lvl="2" indent="0">
              <a:buNone/>
            </a:pPr>
            <a:endParaRPr lang="en-US" dirty="0"/>
          </a:p>
        </p:txBody>
      </p:sp>
      <p:pic>
        <p:nvPicPr>
          <p:cNvPr id="9" name="Picture 8">
            <a:extLst>
              <a:ext uri="{FF2B5EF4-FFF2-40B4-BE49-F238E27FC236}">
                <a16:creationId xmlns:a16="http://schemas.microsoft.com/office/drawing/2014/main" id="{BBB8A2C4-AAD0-01DE-5877-B31DC64B17FE}"/>
              </a:ext>
            </a:extLst>
          </p:cNvPr>
          <p:cNvPicPr>
            <a:picLocks noChangeAspect="1"/>
          </p:cNvPicPr>
          <p:nvPr/>
        </p:nvPicPr>
        <p:blipFill>
          <a:blip r:embed="rId3"/>
          <a:stretch>
            <a:fillRect/>
          </a:stretch>
        </p:blipFill>
        <p:spPr>
          <a:xfrm>
            <a:off x="7995960" y="1724455"/>
            <a:ext cx="3972479" cy="1162212"/>
          </a:xfrm>
          <a:prstGeom prst="rect">
            <a:avLst/>
          </a:prstGeom>
        </p:spPr>
      </p:pic>
      <p:sp>
        <p:nvSpPr>
          <p:cNvPr id="3" name="Slide Number Placeholder 2">
            <a:extLst>
              <a:ext uri="{FF2B5EF4-FFF2-40B4-BE49-F238E27FC236}">
                <a16:creationId xmlns:a16="http://schemas.microsoft.com/office/drawing/2014/main" id="{58F05A3E-52E1-F406-9D22-7E7D59A1B02B}"/>
              </a:ext>
            </a:extLst>
          </p:cNvPr>
          <p:cNvSpPr>
            <a:spLocks noGrp="1"/>
          </p:cNvSpPr>
          <p:nvPr>
            <p:ph type="sldNum" sz="quarter" idx="12"/>
          </p:nvPr>
        </p:nvSpPr>
        <p:spPr/>
        <p:txBody>
          <a:bodyPr/>
          <a:lstStyle/>
          <a:p>
            <a:fld id="{EA816D0E-01D5-4C40-903D-C1C8B29B6D50}" type="slidenum">
              <a:rPr lang="en-US" smtClean="0"/>
              <a:t>17</a:t>
            </a:fld>
            <a:endParaRPr lang="en-US"/>
          </a:p>
        </p:txBody>
      </p:sp>
      <p:sp>
        <p:nvSpPr>
          <p:cNvPr id="6" name="TextBox 5">
            <a:extLst>
              <a:ext uri="{FF2B5EF4-FFF2-40B4-BE49-F238E27FC236}">
                <a16:creationId xmlns:a16="http://schemas.microsoft.com/office/drawing/2014/main" id="{02C6CEF1-073A-CA15-01BF-5519D5526754}"/>
              </a:ext>
            </a:extLst>
          </p:cNvPr>
          <p:cNvSpPr txBox="1"/>
          <p:nvPr/>
        </p:nvSpPr>
        <p:spPr>
          <a:xfrm>
            <a:off x="7863241" y="3263907"/>
            <a:ext cx="4103207" cy="2308324"/>
          </a:xfrm>
          <a:prstGeom prst="rect">
            <a:avLst/>
          </a:prstGeom>
          <a:noFill/>
          <a:ln>
            <a:solidFill>
              <a:srgbClr val="3A3B97"/>
            </a:solidFill>
          </a:ln>
        </p:spPr>
        <p:txBody>
          <a:bodyPr wrap="square" rtlCol="0">
            <a:spAutoFit/>
          </a:bodyPr>
          <a:lstStyle/>
          <a:p>
            <a:r>
              <a:rPr lang="en-US" dirty="0">
                <a:sym typeface="Wingdings" panose="05000000000000000000" pitchFamily="2" charset="2"/>
              </a:rPr>
              <a:t>Notice the anomaly? The model is as complex as you can handle or need it to be, and can be improved with easy complexity. Ex. Analyzing risk factors for your two groups of most disparate students (Athletes, non-athletes) separately and making a ranking “algorithm” for both groups separately.</a:t>
            </a:r>
            <a:endParaRPr lang="en-US" dirty="0"/>
          </a:p>
        </p:txBody>
      </p:sp>
      <p:cxnSp>
        <p:nvCxnSpPr>
          <p:cNvPr id="11" name="Connector: Elbow 10">
            <a:extLst>
              <a:ext uri="{FF2B5EF4-FFF2-40B4-BE49-F238E27FC236}">
                <a16:creationId xmlns:a16="http://schemas.microsoft.com/office/drawing/2014/main" id="{AC9767D2-DB12-32BC-B9C2-7B02E526C2D5}"/>
              </a:ext>
            </a:extLst>
          </p:cNvPr>
          <p:cNvCxnSpPr>
            <a:cxnSpLocks/>
          </p:cNvCxnSpPr>
          <p:nvPr/>
        </p:nvCxnSpPr>
        <p:spPr>
          <a:xfrm rot="5400000" flipH="1" flipV="1">
            <a:off x="11055813" y="2843998"/>
            <a:ext cx="592929" cy="246890"/>
          </a:xfrm>
          <a:prstGeom prst="bentConnector3">
            <a:avLst>
              <a:gd name="adj1" fmla="val 50000"/>
            </a:avLst>
          </a:prstGeom>
          <a:ln>
            <a:solidFill>
              <a:srgbClr val="3A3B97"/>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1250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0515600" cy="1325563"/>
          </a:xfrm>
        </p:spPr>
        <p:txBody>
          <a:bodyPr/>
          <a:lstStyle/>
          <a:p>
            <a:r>
              <a:rPr lang="en-US" dirty="0"/>
              <a:t>Applying Interventions</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10" name="Content Placeholder 2">
            <a:extLst>
              <a:ext uri="{FF2B5EF4-FFF2-40B4-BE49-F238E27FC236}">
                <a16:creationId xmlns:a16="http://schemas.microsoft.com/office/drawing/2014/main" id="{005E7B7E-615A-3BB3-76D7-11D15EF6756D}"/>
              </a:ext>
            </a:extLst>
          </p:cNvPr>
          <p:cNvSpPr txBox="1">
            <a:spLocks/>
          </p:cNvSpPr>
          <p:nvPr/>
        </p:nvSpPr>
        <p:spPr>
          <a:xfrm>
            <a:off x="225552" y="1724455"/>
            <a:ext cx="7058746" cy="428315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Year 1, because we found athletes had the highest retention rates, we did not apply any interventions to that group – among some other assumptions about the reasons for their success</a:t>
            </a:r>
          </a:p>
          <a:p>
            <a:r>
              <a:rPr lang="en-US" dirty="0"/>
              <a:t>Year 1 we applied assigned Momentum Advisors to 50 most “at-risk” students</a:t>
            </a:r>
          </a:p>
          <a:p>
            <a:r>
              <a:rPr lang="en-US" dirty="0"/>
              <a:t>Year 2 the same, plus creating a new intervention that applied to those who were not athletes or the most “at-risk”</a:t>
            </a:r>
          </a:p>
          <a:p>
            <a:r>
              <a:rPr lang="en-US" dirty="0"/>
              <a:t>Can also calculate Athlete’s risk separately and rank them separately for the most “at-risk” athletes to receive intervention</a:t>
            </a:r>
          </a:p>
          <a:p>
            <a:pPr marL="0" indent="0">
              <a:buNone/>
            </a:pPr>
            <a:endParaRPr lang="en-US" dirty="0"/>
          </a:p>
          <a:p>
            <a:pPr marL="914400" lvl="2" indent="0">
              <a:buNone/>
            </a:pPr>
            <a:endParaRPr lang="en-US" dirty="0"/>
          </a:p>
        </p:txBody>
      </p:sp>
      <p:sp>
        <p:nvSpPr>
          <p:cNvPr id="3" name="Slide Number Placeholder 2">
            <a:extLst>
              <a:ext uri="{FF2B5EF4-FFF2-40B4-BE49-F238E27FC236}">
                <a16:creationId xmlns:a16="http://schemas.microsoft.com/office/drawing/2014/main" id="{BC2001EF-42A3-753A-81EA-174091264E37}"/>
              </a:ext>
            </a:extLst>
          </p:cNvPr>
          <p:cNvSpPr>
            <a:spLocks noGrp="1"/>
          </p:cNvSpPr>
          <p:nvPr>
            <p:ph type="sldNum" sz="quarter" idx="12"/>
          </p:nvPr>
        </p:nvSpPr>
        <p:spPr/>
        <p:txBody>
          <a:bodyPr/>
          <a:lstStyle/>
          <a:p>
            <a:fld id="{EA816D0E-01D5-4C40-903D-C1C8B29B6D50}" type="slidenum">
              <a:rPr lang="en-US" smtClean="0"/>
              <a:t>18</a:t>
            </a:fld>
            <a:endParaRPr lang="en-US"/>
          </a:p>
        </p:txBody>
      </p:sp>
    </p:spTree>
    <p:extLst>
      <p:ext uri="{BB962C8B-B14F-4D97-AF65-F5344CB8AC3E}">
        <p14:creationId xmlns:p14="http://schemas.microsoft.com/office/powerpoint/2010/main" val="2297795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DF1C99CC-E80F-F3F7-6E51-05CED291F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C47F009C-1E7E-1D53-073A-16E4C8737B6B}"/>
              </a:ext>
            </a:extLst>
          </p:cNvPr>
          <p:cNvSpPr>
            <a:spLocks noGrp="1"/>
          </p:cNvSpPr>
          <p:nvPr>
            <p:ph type="title"/>
          </p:nvPr>
        </p:nvSpPr>
        <p:spPr>
          <a:xfrm>
            <a:off x="124968" y="-62765"/>
            <a:ext cx="10515600" cy="1325563"/>
          </a:xfrm>
        </p:spPr>
        <p:txBody>
          <a:bodyPr/>
          <a:lstStyle/>
          <a:p>
            <a:r>
              <a:rPr lang="en-US" dirty="0"/>
              <a:t>Intervention Outcomes</a:t>
            </a:r>
          </a:p>
        </p:txBody>
      </p:sp>
      <p:sp>
        <p:nvSpPr>
          <p:cNvPr id="5" name="Rectangle 4">
            <a:extLst>
              <a:ext uri="{FF2B5EF4-FFF2-40B4-BE49-F238E27FC236}">
                <a16:creationId xmlns:a16="http://schemas.microsoft.com/office/drawing/2014/main" id="{29101D7F-5ACE-30FD-E820-D5FD0B2FB75C}"/>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10" name="Content Placeholder 2">
            <a:extLst>
              <a:ext uri="{FF2B5EF4-FFF2-40B4-BE49-F238E27FC236}">
                <a16:creationId xmlns:a16="http://schemas.microsoft.com/office/drawing/2014/main" id="{005E7B7E-615A-3BB3-76D7-11D15EF6756D}"/>
              </a:ext>
            </a:extLst>
          </p:cNvPr>
          <p:cNvSpPr txBox="1">
            <a:spLocks/>
          </p:cNvSpPr>
          <p:nvPr/>
        </p:nvSpPr>
        <p:spPr>
          <a:xfrm>
            <a:off x="225552" y="1724455"/>
            <a:ext cx="7058746" cy="42831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the first year we identified an increase in fall-to-spring retention rates of our students who received Momentum Advising by x%</a:t>
            </a:r>
          </a:p>
          <a:p>
            <a:r>
              <a:rPr lang="en-US" dirty="0"/>
              <a:t>We also identified an increase in their average GPA by x points</a:t>
            </a:r>
          </a:p>
          <a:p>
            <a:pPr marL="0" indent="0">
              <a:buNone/>
            </a:pPr>
            <a:endParaRPr lang="en-US" dirty="0"/>
          </a:p>
          <a:p>
            <a:pPr marL="914400" lvl="2" indent="0">
              <a:buNone/>
            </a:pPr>
            <a:endParaRPr lang="en-US" dirty="0"/>
          </a:p>
        </p:txBody>
      </p:sp>
      <p:sp>
        <p:nvSpPr>
          <p:cNvPr id="3" name="Slide Number Placeholder 2">
            <a:extLst>
              <a:ext uri="{FF2B5EF4-FFF2-40B4-BE49-F238E27FC236}">
                <a16:creationId xmlns:a16="http://schemas.microsoft.com/office/drawing/2014/main" id="{030551D6-7053-690D-D20B-63C1A95A4DBA}"/>
              </a:ext>
            </a:extLst>
          </p:cNvPr>
          <p:cNvSpPr>
            <a:spLocks noGrp="1"/>
          </p:cNvSpPr>
          <p:nvPr>
            <p:ph type="sldNum" sz="quarter" idx="12"/>
          </p:nvPr>
        </p:nvSpPr>
        <p:spPr/>
        <p:txBody>
          <a:bodyPr/>
          <a:lstStyle/>
          <a:p>
            <a:fld id="{EA816D0E-01D5-4C40-903D-C1C8B29B6D50}" type="slidenum">
              <a:rPr lang="en-US" smtClean="0"/>
              <a:t>19</a:t>
            </a:fld>
            <a:endParaRPr lang="en-US"/>
          </a:p>
        </p:txBody>
      </p:sp>
    </p:spTree>
    <p:extLst>
      <p:ext uri="{BB962C8B-B14F-4D97-AF65-F5344CB8AC3E}">
        <p14:creationId xmlns:p14="http://schemas.microsoft.com/office/powerpoint/2010/main" val="2236568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CC47F-3AE7-3547-6EE5-BD0D5BE901EB}"/>
            </a:ext>
          </a:extLst>
        </p:cNvPr>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BDB1A39B-9767-D372-9497-418A14C361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B81320D5-43BE-CB57-F49E-D855387FC237}"/>
              </a:ext>
            </a:extLst>
          </p:cNvPr>
          <p:cNvSpPr>
            <a:spLocks noGrp="1"/>
          </p:cNvSpPr>
          <p:nvPr>
            <p:ph type="title"/>
          </p:nvPr>
        </p:nvSpPr>
        <p:spPr>
          <a:xfrm>
            <a:off x="124968" y="-62765"/>
            <a:ext cx="10515600" cy="1325563"/>
          </a:xfrm>
        </p:spPr>
        <p:txBody>
          <a:bodyPr/>
          <a:lstStyle/>
          <a:p>
            <a:r>
              <a:rPr lang="en-US" dirty="0"/>
              <a:t>Appendices - Links</a:t>
            </a:r>
          </a:p>
        </p:txBody>
      </p:sp>
      <p:sp>
        <p:nvSpPr>
          <p:cNvPr id="5" name="Rectangle 4">
            <a:extLst>
              <a:ext uri="{FF2B5EF4-FFF2-40B4-BE49-F238E27FC236}">
                <a16:creationId xmlns:a16="http://schemas.microsoft.com/office/drawing/2014/main" id="{F1CD462B-F6FF-6DEE-BDA5-BBC0B45F23F3}"/>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10" name="Content Placeholder 2">
            <a:extLst>
              <a:ext uri="{FF2B5EF4-FFF2-40B4-BE49-F238E27FC236}">
                <a16:creationId xmlns:a16="http://schemas.microsoft.com/office/drawing/2014/main" id="{D5050D2A-32DA-050D-AB89-CEECEAC1CFDB}"/>
              </a:ext>
            </a:extLst>
          </p:cNvPr>
          <p:cNvSpPr txBox="1">
            <a:spLocks/>
          </p:cNvSpPr>
          <p:nvPr/>
        </p:nvSpPr>
        <p:spPr>
          <a:xfrm>
            <a:off x="144590" y="1485919"/>
            <a:ext cx="7464552" cy="13274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Kaggle Dataset – Fictional IBM HR data</a:t>
            </a:r>
          </a:p>
          <a:p>
            <a:pPr lvl="1"/>
            <a:r>
              <a:rPr lang="en-US" dirty="0">
                <a:hlinkClick r:id="rId3"/>
              </a:rPr>
              <a:t>https://www.kaggle.com/datasets/pavansubhasht/ibm-hr-analytics-attrition-dataset</a:t>
            </a:r>
            <a:endParaRPr lang="en-US" dirty="0"/>
          </a:p>
          <a:p>
            <a:pPr marL="914400" lvl="2" indent="0">
              <a:buNone/>
            </a:pPr>
            <a:endParaRPr lang="en-US" dirty="0"/>
          </a:p>
        </p:txBody>
      </p:sp>
      <p:pic>
        <p:nvPicPr>
          <p:cNvPr id="6" name="Picture 5" descr="A qr code on a white background&#10;&#10;Description automatically generated">
            <a:extLst>
              <a:ext uri="{FF2B5EF4-FFF2-40B4-BE49-F238E27FC236}">
                <a16:creationId xmlns:a16="http://schemas.microsoft.com/office/drawing/2014/main" id="{396F7C8F-28DF-E381-52AC-B4BBB6B6B9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3743" y="2939176"/>
            <a:ext cx="1558290" cy="1558290"/>
          </a:xfrm>
          <a:prstGeom prst="rect">
            <a:avLst/>
          </a:prstGeom>
        </p:spPr>
      </p:pic>
      <p:pic>
        <p:nvPicPr>
          <p:cNvPr id="8" name="Picture 7" descr="A qr code with black squares&#10;&#10;Description automatically generated">
            <a:extLst>
              <a:ext uri="{FF2B5EF4-FFF2-40B4-BE49-F238E27FC236}">
                <a16:creationId xmlns:a16="http://schemas.microsoft.com/office/drawing/2014/main" id="{F6DBEFA5-B1D8-740A-D02D-2F6AB0E9AA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8180" y="1416683"/>
            <a:ext cx="1558290" cy="1558290"/>
          </a:xfrm>
          <a:prstGeom prst="rect">
            <a:avLst/>
          </a:prstGeom>
        </p:spPr>
      </p:pic>
      <p:pic>
        <p:nvPicPr>
          <p:cNvPr id="11" name="Picture 10" descr="A qr code on a white background&#10;&#10;Description automatically generated">
            <a:extLst>
              <a:ext uri="{FF2B5EF4-FFF2-40B4-BE49-F238E27FC236}">
                <a16:creationId xmlns:a16="http://schemas.microsoft.com/office/drawing/2014/main" id="{A1556F76-ACAD-C5B6-6DE5-B5AA4197CD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98725" y="4435385"/>
            <a:ext cx="1558291" cy="1558291"/>
          </a:xfrm>
          <a:prstGeom prst="rect">
            <a:avLst/>
          </a:prstGeom>
        </p:spPr>
      </p:pic>
      <p:sp>
        <p:nvSpPr>
          <p:cNvPr id="12" name="Slide Number Placeholder 11">
            <a:extLst>
              <a:ext uri="{FF2B5EF4-FFF2-40B4-BE49-F238E27FC236}">
                <a16:creationId xmlns:a16="http://schemas.microsoft.com/office/drawing/2014/main" id="{6F3AEF03-43A8-4AD8-6E9C-2D7F7C512858}"/>
              </a:ext>
            </a:extLst>
          </p:cNvPr>
          <p:cNvSpPr>
            <a:spLocks noGrp="1"/>
          </p:cNvSpPr>
          <p:nvPr>
            <p:ph type="sldNum" sz="quarter" idx="12"/>
          </p:nvPr>
        </p:nvSpPr>
        <p:spPr/>
        <p:txBody>
          <a:bodyPr/>
          <a:lstStyle/>
          <a:p>
            <a:fld id="{EA816D0E-01D5-4C40-903D-C1C8B29B6D50}" type="slidenum">
              <a:rPr lang="en-US" smtClean="0"/>
              <a:t>20</a:t>
            </a:fld>
            <a:endParaRPr lang="en-US"/>
          </a:p>
        </p:txBody>
      </p:sp>
      <p:sp>
        <p:nvSpPr>
          <p:cNvPr id="13" name="TextBox 12">
            <a:extLst>
              <a:ext uri="{FF2B5EF4-FFF2-40B4-BE49-F238E27FC236}">
                <a16:creationId xmlns:a16="http://schemas.microsoft.com/office/drawing/2014/main" id="{C22634AE-465E-B333-EB34-A560ECD1D9E1}"/>
              </a:ext>
            </a:extLst>
          </p:cNvPr>
          <p:cNvSpPr txBox="1"/>
          <p:nvPr/>
        </p:nvSpPr>
        <p:spPr>
          <a:xfrm>
            <a:off x="3684695" y="3018170"/>
            <a:ext cx="8507305" cy="1384995"/>
          </a:xfrm>
          <a:prstGeom prst="rect">
            <a:avLst/>
          </a:prstGeom>
          <a:noFill/>
        </p:spPr>
        <p:txBody>
          <a:bodyPr wrap="square" rtlCol="0">
            <a:spAutoFit/>
          </a:bodyPr>
          <a:lstStyle/>
          <a:p>
            <a:pPr marL="457200" indent="-457200">
              <a:buFont typeface="Arial" panose="020B0604020202020204" pitchFamily="34" charset="0"/>
              <a:buChar char="•"/>
            </a:pPr>
            <a:r>
              <a:rPr lang="en-US" sz="2800" dirty="0"/>
              <a:t>Robert </a:t>
            </a:r>
            <a:r>
              <a:rPr lang="en-US" sz="2800" dirty="0" err="1"/>
              <a:t>Cilino’s</a:t>
            </a:r>
            <a:r>
              <a:rPr lang="en-US" sz="2800" dirty="0"/>
              <a:t> GitHub Portfolio</a:t>
            </a:r>
          </a:p>
          <a:p>
            <a:pPr marL="914400" lvl="1" indent="-457200">
              <a:buFont typeface="Arial" panose="020B0604020202020204" pitchFamily="34" charset="0"/>
              <a:buChar char="•"/>
            </a:pPr>
            <a:r>
              <a:rPr lang="en-US" sz="2800" dirty="0"/>
              <a:t>Python Notebook, Presentation</a:t>
            </a:r>
          </a:p>
          <a:p>
            <a:pPr marL="914400" lvl="1" indent="-457200">
              <a:buFont typeface="Arial" panose="020B0604020202020204" pitchFamily="34" charset="0"/>
              <a:buChar char="•"/>
            </a:pPr>
            <a:r>
              <a:rPr lang="en-US" sz="2800" dirty="0">
                <a:hlinkClick r:id="rId7"/>
              </a:rPr>
              <a:t>https://github.com/rcilino/Data-Project-Portfolio</a:t>
            </a:r>
            <a:endParaRPr lang="en-US" sz="2800" dirty="0"/>
          </a:p>
        </p:txBody>
      </p:sp>
      <p:sp>
        <p:nvSpPr>
          <p:cNvPr id="14" name="TextBox 13">
            <a:extLst>
              <a:ext uri="{FF2B5EF4-FFF2-40B4-BE49-F238E27FC236}">
                <a16:creationId xmlns:a16="http://schemas.microsoft.com/office/drawing/2014/main" id="{BB253DBE-A770-054E-7247-4745A7BE3B82}"/>
              </a:ext>
            </a:extLst>
          </p:cNvPr>
          <p:cNvSpPr txBox="1"/>
          <p:nvPr/>
        </p:nvSpPr>
        <p:spPr>
          <a:xfrm>
            <a:off x="0" y="4623259"/>
            <a:ext cx="6531907" cy="1384995"/>
          </a:xfrm>
          <a:prstGeom prst="rect">
            <a:avLst/>
          </a:prstGeom>
          <a:noFill/>
        </p:spPr>
        <p:txBody>
          <a:bodyPr wrap="square" rtlCol="0">
            <a:spAutoFit/>
          </a:bodyPr>
          <a:lstStyle/>
          <a:p>
            <a:pPr marL="285750" indent="-285750">
              <a:buFont typeface="Arial" panose="020B0604020202020204" pitchFamily="34" charset="0"/>
              <a:buChar char="•"/>
            </a:pPr>
            <a:r>
              <a:rPr lang="en-US" sz="2800" dirty="0"/>
              <a:t>Correlation Matrices in Excel</a:t>
            </a:r>
          </a:p>
          <a:p>
            <a:pPr marL="742950" lvl="1" indent="-285750">
              <a:buFont typeface="Arial" panose="020B0604020202020204" pitchFamily="34" charset="0"/>
              <a:buChar char="•"/>
            </a:pPr>
            <a:r>
              <a:rPr lang="en-US" sz="2800" dirty="0">
                <a:hlinkClick r:id="rId8"/>
              </a:rPr>
              <a:t>https://www.datacamp.com/tutorial/correlation-matrix-excel</a:t>
            </a:r>
            <a:endParaRPr lang="en-US" sz="2800" dirty="0"/>
          </a:p>
        </p:txBody>
      </p:sp>
    </p:spTree>
    <p:extLst>
      <p:ext uri="{BB962C8B-B14F-4D97-AF65-F5344CB8AC3E}">
        <p14:creationId xmlns:p14="http://schemas.microsoft.com/office/powerpoint/2010/main" val="2895031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EE7CB-743C-BEB9-53D7-82387BFE7E08}"/>
            </a:ext>
          </a:extLst>
        </p:cNvPr>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C9EACE49-1620-9B40-EF93-B92076B77A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41E82234-DB4C-75D2-4CE3-89624893F904}"/>
              </a:ext>
            </a:extLst>
          </p:cNvPr>
          <p:cNvSpPr>
            <a:spLocks noGrp="1"/>
          </p:cNvSpPr>
          <p:nvPr>
            <p:ph type="title"/>
          </p:nvPr>
        </p:nvSpPr>
        <p:spPr>
          <a:xfrm>
            <a:off x="124968" y="-62765"/>
            <a:ext cx="11889554" cy="1325563"/>
          </a:xfrm>
        </p:spPr>
        <p:txBody>
          <a:bodyPr/>
          <a:lstStyle/>
          <a:p>
            <a:r>
              <a:rPr lang="en-US" dirty="0"/>
              <a:t>Appendices – SQL Queries for Calculating Retention</a:t>
            </a:r>
          </a:p>
        </p:txBody>
      </p:sp>
      <p:sp>
        <p:nvSpPr>
          <p:cNvPr id="5" name="Rectangle 4">
            <a:extLst>
              <a:ext uri="{FF2B5EF4-FFF2-40B4-BE49-F238E27FC236}">
                <a16:creationId xmlns:a16="http://schemas.microsoft.com/office/drawing/2014/main" id="{4AB0420A-ED1F-FC33-E2FC-0B8C920070C9}"/>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12" name="Slide Number Placeholder 11">
            <a:extLst>
              <a:ext uri="{FF2B5EF4-FFF2-40B4-BE49-F238E27FC236}">
                <a16:creationId xmlns:a16="http://schemas.microsoft.com/office/drawing/2014/main" id="{B21F1448-D4DE-70CC-C996-E8DA79790368}"/>
              </a:ext>
            </a:extLst>
          </p:cNvPr>
          <p:cNvSpPr>
            <a:spLocks noGrp="1"/>
          </p:cNvSpPr>
          <p:nvPr>
            <p:ph type="sldNum" sz="quarter" idx="12"/>
          </p:nvPr>
        </p:nvSpPr>
        <p:spPr/>
        <p:txBody>
          <a:bodyPr/>
          <a:lstStyle/>
          <a:p>
            <a:fld id="{EA816D0E-01D5-4C40-903D-C1C8B29B6D50}" type="slidenum">
              <a:rPr lang="en-US" smtClean="0"/>
              <a:t>21</a:t>
            </a:fld>
            <a:endParaRPr lang="en-US"/>
          </a:p>
        </p:txBody>
      </p:sp>
      <p:pic>
        <p:nvPicPr>
          <p:cNvPr id="9" name="Picture 8" descr="A screenshot of a computer program&#10;&#10;Description automatically generated">
            <a:extLst>
              <a:ext uri="{FF2B5EF4-FFF2-40B4-BE49-F238E27FC236}">
                <a16:creationId xmlns:a16="http://schemas.microsoft.com/office/drawing/2014/main" id="{2A68970D-AFB3-04F3-4124-39BE51ACB6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15737"/>
            <a:ext cx="6096000" cy="4592819"/>
          </a:xfrm>
          <a:prstGeom prst="rect">
            <a:avLst/>
          </a:prstGeom>
        </p:spPr>
      </p:pic>
      <p:pic>
        <p:nvPicPr>
          <p:cNvPr id="11" name="Picture 10" descr="A screenshot of a computer program&#10;&#10;Description automatically generated">
            <a:extLst>
              <a:ext uri="{FF2B5EF4-FFF2-40B4-BE49-F238E27FC236}">
                <a16:creationId xmlns:a16="http://schemas.microsoft.com/office/drawing/2014/main" id="{A30F95C0-7D1E-5BC4-7A7C-F3C5A904E0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9744" y="1274071"/>
            <a:ext cx="6122256" cy="4854134"/>
          </a:xfrm>
          <a:prstGeom prst="rect">
            <a:avLst/>
          </a:prstGeom>
        </p:spPr>
      </p:pic>
      <p:sp>
        <p:nvSpPr>
          <p:cNvPr id="13" name="TextBox 12">
            <a:extLst>
              <a:ext uri="{FF2B5EF4-FFF2-40B4-BE49-F238E27FC236}">
                <a16:creationId xmlns:a16="http://schemas.microsoft.com/office/drawing/2014/main" id="{9A5E155B-D6B7-7420-C436-BCC9F4A37907}"/>
              </a:ext>
            </a:extLst>
          </p:cNvPr>
          <p:cNvSpPr txBox="1"/>
          <p:nvPr/>
        </p:nvSpPr>
        <p:spPr>
          <a:xfrm>
            <a:off x="3172784" y="1650829"/>
            <a:ext cx="2740045" cy="369332"/>
          </a:xfrm>
          <a:prstGeom prst="rect">
            <a:avLst/>
          </a:prstGeom>
          <a:noFill/>
          <a:ln>
            <a:solidFill>
              <a:srgbClr val="3A3B97"/>
            </a:solidFill>
          </a:ln>
        </p:spPr>
        <p:txBody>
          <a:bodyPr wrap="none" rtlCol="0">
            <a:spAutoFit/>
          </a:bodyPr>
          <a:lstStyle/>
          <a:p>
            <a:r>
              <a:rPr lang="en-US" dirty="0"/>
              <a:t>*No breakdown/subgroup</a:t>
            </a:r>
          </a:p>
        </p:txBody>
      </p:sp>
      <p:sp>
        <p:nvSpPr>
          <p:cNvPr id="14" name="TextBox 13">
            <a:extLst>
              <a:ext uri="{FF2B5EF4-FFF2-40B4-BE49-F238E27FC236}">
                <a16:creationId xmlns:a16="http://schemas.microsoft.com/office/drawing/2014/main" id="{D89422BA-A0A9-4B13-C095-E154A2696267}"/>
              </a:ext>
            </a:extLst>
          </p:cNvPr>
          <p:cNvSpPr txBox="1"/>
          <p:nvPr/>
        </p:nvSpPr>
        <p:spPr>
          <a:xfrm>
            <a:off x="9274477" y="1650829"/>
            <a:ext cx="2322880" cy="369332"/>
          </a:xfrm>
          <a:prstGeom prst="rect">
            <a:avLst/>
          </a:prstGeom>
          <a:noFill/>
          <a:ln>
            <a:solidFill>
              <a:srgbClr val="3A3B97"/>
            </a:solidFill>
          </a:ln>
        </p:spPr>
        <p:txBody>
          <a:bodyPr wrap="none" rtlCol="0">
            <a:spAutoFit/>
          </a:bodyPr>
          <a:lstStyle/>
          <a:p>
            <a:r>
              <a:rPr lang="en-US" dirty="0"/>
              <a:t>*Retention by Gender</a:t>
            </a:r>
          </a:p>
        </p:txBody>
      </p:sp>
    </p:spTree>
    <p:extLst>
      <p:ext uri="{BB962C8B-B14F-4D97-AF65-F5344CB8AC3E}">
        <p14:creationId xmlns:p14="http://schemas.microsoft.com/office/powerpoint/2010/main" val="2662624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EFDDE-82AF-DB7B-E16C-B6EF9D6FF549}"/>
            </a:ext>
          </a:extLst>
        </p:cNvPr>
        <p:cNvGrpSpPr/>
        <p:nvPr/>
      </p:nvGrpSpPr>
      <p:grpSpPr>
        <a:xfrm>
          <a:off x="0" y="0"/>
          <a:ext cx="0" cy="0"/>
          <a:chOff x="0" y="0"/>
          <a:chExt cx="0" cy="0"/>
        </a:xfrm>
      </p:grpSpPr>
      <p:pic>
        <p:nvPicPr>
          <p:cNvPr id="4" name="Picture 3" descr="A white line on a surface&#10;&#10;Description automatically generated with medium confidence">
            <a:extLst>
              <a:ext uri="{FF2B5EF4-FFF2-40B4-BE49-F238E27FC236}">
                <a16:creationId xmlns:a16="http://schemas.microsoft.com/office/drawing/2014/main" id="{95380B57-DCD1-F92E-81FB-30EB66B23A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6650"/>
            <a:ext cx="12192000" cy="1633335"/>
          </a:xfrm>
          <a:prstGeom prst="rect">
            <a:avLst/>
          </a:prstGeom>
        </p:spPr>
      </p:pic>
      <p:sp>
        <p:nvSpPr>
          <p:cNvPr id="2" name="Title 1">
            <a:extLst>
              <a:ext uri="{FF2B5EF4-FFF2-40B4-BE49-F238E27FC236}">
                <a16:creationId xmlns:a16="http://schemas.microsoft.com/office/drawing/2014/main" id="{60016C02-976F-296B-D747-630C417B2B4E}"/>
              </a:ext>
            </a:extLst>
          </p:cNvPr>
          <p:cNvSpPr>
            <a:spLocks noGrp="1"/>
          </p:cNvSpPr>
          <p:nvPr>
            <p:ph type="title"/>
          </p:nvPr>
        </p:nvSpPr>
        <p:spPr>
          <a:xfrm>
            <a:off x="124968" y="-62765"/>
            <a:ext cx="11433048" cy="1325563"/>
          </a:xfrm>
        </p:spPr>
        <p:txBody>
          <a:bodyPr/>
          <a:lstStyle/>
          <a:p>
            <a:r>
              <a:rPr lang="en-US" dirty="0"/>
              <a:t>Appendices - How to set up data for Excel Charts</a:t>
            </a:r>
          </a:p>
        </p:txBody>
      </p:sp>
      <p:sp>
        <p:nvSpPr>
          <p:cNvPr id="5" name="Rectangle 4">
            <a:extLst>
              <a:ext uri="{FF2B5EF4-FFF2-40B4-BE49-F238E27FC236}">
                <a16:creationId xmlns:a16="http://schemas.microsoft.com/office/drawing/2014/main" id="{66539AEA-FFEA-4A4E-6AF8-C3574E122349}"/>
              </a:ext>
            </a:extLst>
          </p:cNvPr>
          <p:cNvSpPr/>
          <p:nvPr/>
        </p:nvSpPr>
        <p:spPr>
          <a:xfrm>
            <a:off x="0" y="6007608"/>
            <a:ext cx="12192000" cy="850392"/>
          </a:xfrm>
          <a:prstGeom prst="rect">
            <a:avLst/>
          </a:prstGeom>
          <a:solidFill>
            <a:srgbClr val="3A3B97"/>
          </a:solidFill>
          <a:ln>
            <a:solidFill>
              <a:srgbClr val="3A3B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Methodologies for Determining Student Performance Risk</a:t>
            </a:r>
          </a:p>
        </p:txBody>
      </p:sp>
      <p:sp>
        <p:nvSpPr>
          <p:cNvPr id="12" name="Slide Number Placeholder 11">
            <a:extLst>
              <a:ext uri="{FF2B5EF4-FFF2-40B4-BE49-F238E27FC236}">
                <a16:creationId xmlns:a16="http://schemas.microsoft.com/office/drawing/2014/main" id="{A3224621-F1AB-0084-583B-A08D8B62E59E}"/>
              </a:ext>
            </a:extLst>
          </p:cNvPr>
          <p:cNvSpPr>
            <a:spLocks noGrp="1"/>
          </p:cNvSpPr>
          <p:nvPr>
            <p:ph type="sldNum" sz="quarter" idx="12"/>
          </p:nvPr>
        </p:nvSpPr>
        <p:spPr/>
        <p:txBody>
          <a:bodyPr/>
          <a:lstStyle/>
          <a:p>
            <a:fld id="{EA816D0E-01D5-4C40-903D-C1C8B29B6D50}" type="slidenum">
              <a:rPr lang="en-US" smtClean="0"/>
              <a:t>22</a:t>
            </a:fld>
            <a:endParaRPr lang="en-US"/>
          </a:p>
        </p:txBody>
      </p:sp>
      <p:pic>
        <p:nvPicPr>
          <p:cNvPr id="3" name="Picture 2">
            <a:extLst>
              <a:ext uri="{FF2B5EF4-FFF2-40B4-BE49-F238E27FC236}">
                <a16:creationId xmlns:a16="http://schemas.microsoft.com/office/drawing/2014/main" id="{789C3D88-8E00-5ED6-CEE9-17BEF063FE01}"/>
              </a:ext>
            </a:extLst>
          </p:cNvPr>
          <p:cNvPicPr>
            <a:picLocks noChangeAspect="1" noChangeArrowheads="1"/>
            <a:extLst>
              <a:ext uri="{84589F7E-364E-4C9E-8A38-B11213B215E9}">
                <a14:cameraTool xmlns:a14="http://schemas.microsoft.com/office/drawing/2010/main" cellRange="$A$43:$C$55"/>
              </a:ext>
            </a:extLst>
          </p:cNvPicPr>
          <p:nvPr/>
        </p:nvPicPr>
        <p:blipFill>
          <a:blip r:embed="rId3"/>
          <a:srcRect/>
          <a:stretch>
            <a:fillRect/>
          </a:stretch>
        </p:blipFill>
        <p:spPr bwMode="auto">
          <a:xfrm>
            <a:off x="1432560" y="1462575"/>
            <a:ext cx="3349752" cy="2111800"/>
          </a:xfrm>
          <a:prstGeom prst="rect">
            <a:avLst/>
          </a:prstGeom>
          <a:solidFill>
            <a:srgbClr xmlns:mc="http://schemas.openxmlformats.org/markup-compatibility/2006" xmlns:a14="http://schemas.microsoft.com/office/drawing/2010/main" val="FFFFFF" mc:Ignorable="a14" a14:legacySpreadsheetColorIndex="9"/>
          </a:solidFill>
          <a:ln w="9525">
            <a:solidFill>
              <a:srgbClr xmlns:mc="http://schemas.openxmlformats.org/markup-compatibility/2006" xmlns:a14="http://schemas.microsoft.com/office/drawing/2010/main" val="000000" mc:Ignorable="a14" a14:legacySpreadsheetColorIndex="64"/>
            </a:solidFill>
            <a:miter lim="800000"/>
            <a:headEnd/>
            <a:tailEnd/>
          </a:ln>
        </p:spPr>
      </p:pic>
      <p:pic>
        <p:nvPicPr>
          <p:cNvPr id="7" name="Picture 6" descr="A graph of a number of people with their age&#10;&#10;Description automatically generated with medium confidence">
            <a:extLst>
              <a:ext uri="{FF2B5EF4-FFF2-40B4-BE49-F238E27FC236}">
                <a16:creationId xmlns:a16="http://schemas.microsoft.com/office/drawing/2014/main" id="{F4B34137-0778-6863-3333-7A1885AB30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073" y="3620265"/>
            <a:ext cx="4279239" cy="2368934"/>
          </a:xfrm>
          <a:prstGeom prst="rect">
            <a:avLst/>
          </a:prstGeom>
        </p:spPr>
      </p:pic>
      <p:pic>
        <p:nvPicPr>
          <p:cNvPr id="15" name="Picture 14">
            <a:extLst>
              <a:ext uri="{FF2B5EF4-FFF2-40B4-BE49-F238E27FC236}">
                <a16:creationId xmlns:a16="http://schemas.microsoft.com/office/drawing/2014/main" id="{AAB9372C-873B-7CD0-0893-F50F4663C61A}"/>
              </a:ext>
            </a:extLst>
          </p:cNvPr>
          <p:cNvPicPr>
            <a:picLocks noChangeAspect="1"/>
          </p:cNvPicPr>
          <p:nvPr/>
        </p:nvPicPr>
        <p:blipFill>
          <a:blip r:embed="rId5"/>
          <a:stretch>
            <a:fillRect/>
          </a:stretch>
        </p:blipFill>
        <p:spPr>
          <a:xfrm>
            <a:off x="6568902" y="1566605"/>
            <a:ext cx="4989114" cy="4314909"/>
          </a:xfrm>
          <a:prstGeom prst="rect">
            <a:avLst/>
          </a:prstGeom>
        </p:spPr>
      </p:pic>
      <p:sp>
        <p:nvSpPr>
          <p:cNvPr id="6" name="Arrow: Curved Left 5">
            <a:extLst>
              <a:ext uri="{FF2B5EF4-FFF2-40B4-BE49-F238E27FC236}">
                <a16:creationId xmlns:a16="http://schemas.microsoft.com/office/drawing/2014/main" id="{9466CA5C-8BA8-0900-B01E-00F8D9ECD58E}"/>
              </a:ext>
            </a:extLst>
          </p:cNvPr>
          <p:cNvSpPr/>
          <p:nvPr/>
        </p:nvSpPr>
        <p:spPr>
          <a:xfrm>
            <a:off x="4843502" y="3041181"/>
            <a:ext cx="445239" cy="868801"/>
          </a:xfrm>
          <a:prstGeom prst="curvedLeftArrow">
            <a:avLst/>
          </a:prstGeom>
          <a:solidFill>
            <a:srgbClr val="3A3B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row: Left 7">
            <a:extLst>
              <a:ext uri="{FF2B5EF4-FFF2-40B4-BE49-F238E27FC236}">
                <a16:creationId xmlns:a16="http://schemas.microsoft.com/office/drawing/2014/main" id="{E877209A-FFFB-8902-7866-89C0B1E06904}"/>
              </a:ext>
            </a:extLst>
          </p:cNvPr>
          <p:cNvSpPr/>
          <p:nvPr/>
        </p:nvSpPr>
        <p:spPr>
          <a:xfrm>
            <a:off x="4843503" y="4178808"/>
            <a:ext cx="1557297" cy="310896"/>
          </a:xfrm>
          <a:prstGeom prst="leftArrow">
            <a:avLst/>
          </a:prstGeom>
          <a:solidFill>
            <a:srgbClr val="3A3B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5571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352</TotalTime>
  <Words>2041</Words>
  <Application>Microsoft Office PowerPoint</Application>
  <PresentationFormat>Widescreen</PresentationFormat>
  <Paragraphs>206</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Wingdings</vt:lpstr>
      <vt:lpstr>Office Theme</vt:lpstr>
      <vt:lpstr>Methodologies for Determining Student Performance Risk</vt:lpstr>
      <vt:lpstr>About Us</vt:lpstr>
      <vt:lpstr>What is Performance? What is Risk?</vt:lpstr>
      <vt:lpstr>Are there any concerns?</vt:lpstr>
      <vt:lpstr>How difficult is this?</vt:lpstr>
      <vt:lpstr>How can we determine risk factors?</vt:lpstr>
      <vt:lpstr>Caveats of this presentation</vt:lpstr>
      <vt:lpstr>Method #1 – Correlation Matrix/Heatmap</vt:lpstr>
      <vt:lpstr>Method #1 – Correlations on Specific IVs</vt:lpstr>
      <vt:lpstr>Handling Continuous Variables</vt:lpstr>
      <vt:lpstr>Method #1 - Issues?</vt:lpstr>
      <vt:lpstr>So which students are “at risk”?</vt:lpstr>
      <vt:lpstr>So which students are “at risk”?</vt:lpstr>
      <vt:lpstr>Method #2 – Examining Charts, or examining further</vt:lpstr>
      <vt:lpstr>Method #2 – Examining Charts</vt:lpstr>
      <vt:lpstr>Method #3 – Comparing Table Data</vt:lpstr>
      <vt:lpstr>Ranking our students</vt:lpstr>
      <vt:lpstr>Applying Interventions</vt:lpstr>
      <vt:lpstr>Intervention Outcomes</vt:lpstr>
      <vt:lpstr>Appendices - Links</vt:lpstr>
      <vt:lpstr>Appendices – SQL Queries for Calculating Retention</vt:lpstr>
      <vt:lpstr>Appendices - How to set up data for Excel Charts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Cilino, Robert</dc:creator>
  <cp:lastModifiedBy>Cilino, Robert</cp:lastModifiedBy>
  <cp:revision>56</cp:revision>
  <dcterms:created xsi:type="dcterms:W3CDTF">2024-08-30T18:29:57Z</dcterms:created>
  <dcterms:modified xsi:type="dcterms:W3CDTF">2024-11-17T02:45:08Z</dcterms:modified>
</cp:coreProperties>
</file>